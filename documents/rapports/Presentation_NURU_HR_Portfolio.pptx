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5" d="100"/>
          <a:sy n="75" d="100"/>
        </p:scale>
        <p:origin x="516"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Feuille_de_calcul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0"/>
    <c:plotArea>
      <c:layout/>
      <c:barChart>
        <c:barDir val="bar"/>
        <c:grouping val="stacked"/>
        <c:varyColors val="1"/>
        <c:ser>
          <c:idx val="0"/>
          <c:order val="0"/>
          <c:tx>
            <c:strRef>
              <c:f>Sheet1!$B$1</c:f>
              <c:strCache>
                <c:ptCount val="1"/>
                <c:pt idx="0">
                  <c:v>CDI</c:v>
                </c:pt>
              </c:strCache>
            </c:strRef>
          </c:tx>
          <c:spPr>
            <a:solidFill>
              <a:srgbClr val="2A78D6"/>
            </a:solidFill>
            <a:ln>
              <a:solidFill>
                <a:srgbClr val="FFFFFF"/>
              </a:solidFill>
            </a:ln>
          </c:spPr>
          <c:invertIfNegative val="1"/>
          <c:dLbls>
            <c:spPr>
              <a:noFill/>
              <a:ln>
                <a:noFill/>
              </a:ln>
              <a:effectLst/>
            </c:spPr>
            <c:txPr>
              <a:bodyPr/>
              <a:lstStyle/>
              <a:p>
                <a:pPr>
                  <a:defRPr sz="1200">
                    <a:solidFill>
                      <a:srgbClr val="FFFFFF"/>
                    </a:solidFill>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Services généraux</c:v>
                </c:pt>
                <c:pt idx="1">
                  <c:v>Informatique</c:v>
                </c:pt>
                <c:pt idx="2">
                  <c:v>Ressources humaines</c:v>
                </c:pt>
                <c:pt idx="3">
                  <c:v>Direction</c:v>
                </c:pt>
                <c:pt idx="4">
                  <c:v>Finance</c:v>
                </c:pt>
                <c:pt idx="5">
                  <c:v>Commercial et service client</c:v>
                </c:pt>
                <c:pt idx="6">
                  <c:v>Logistique</c:v>
                </c:pt>
                <c:pt idx="7">
                  <c:v>Opérations techniques</c:v>
                </c:pt>
              </c:strCache>
            </c:strRef>
          </c:cat>
          <c:val>
            <c:numRef>
              <c:f>Sheet1!$B$2:$B$9</c:f>
              <c:numCache>
                <c:formatCode>General</c:formatCode>
                <c:ptCount val="8"/>
                <c:pt idx="0">
                  <c:v>1</c:v>
                </c:pt>
                <c:pt idx="1">
                  <c:v>1</c:v>
                </c:pt>
                <c:pt idx="2">
                  <c:v>1</c:v>
                </c:pt>
                <c:pt idx="3">
                  <c:v>2</c:v>
                </c:pt>
                <c:pt idx="4">
                  <c:v>2</c:v>
                </c:pt>
                <c:pt idx="5">
                  <c:v>3</c:v>
                </c:pt>
                <c:pt idx="6">
                  <c:v>5</c:v>
                </c:pt>
                <c:pt idx="7">
                  <c:v>5</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FFFFFF"/>
                    </a:solidFill>
                  </a:ln>
                </c14:spPr>
              </c14:invertSolidFillFmt>
            </c:ext>
            <c:ext xmlns:c16="http://schemas.microsoft.com/office/drawing/2014/chart" uri="{C3380CC4-5D6E-409C-BE32-E72D297353CC}">
              <c16:uniqueId val="{00000000-10F2-4F36-8E6B-3D7A4D4DD4A0}"/>
            </c:ext>
          </c:extLst>
        </c:ser>
        <c:ser>
          <c:idx val="1"/>
          <c:order val="1"/>
          <c:tx>
            <c:strRef>
              <c:f>Sheet1!$C$1</c:f>
              <c:strCache>
                <c:ptCount val="1"/>
                <c:pt idx="0">
                  <c:v>CDD</c:v>
                </c:pt>
              </c:strCache>
            </c:strRef>
          </c:tx>
          <c:spPr>
            <a:solidFill>
              <a:srgbClr val="EB6834"/>
            </a:solidFill>
            <a:ln>
              <a:solidFill>
                <a:srgbClr val="FFFFFF"/>
              </a:solidFill>
            </a:ln>
          </c:spPr>
          <c:invertIfNegative val="1"/>
          <c:dLbls>
            <c:spPr>
              <a:noFill/>
              <a:ln>
                <a:noFill/>
              </a:ln>
              <a:effectLst/>
            </c:spPr>
            <c:txPr>
              <a:bodyPr/>
              <a:lstStyle/>
              <a:p>
                <a:pPr>
                  <a:defRPr sz="1200">
                    <a:solidFill>
                      <a:srgbClr val="FFFFFF"/>
                    </a:solidFill>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Services généraux</c:v>
                </c:pt>
                <c:pt idx="1">
                  <c:v>Informatique</c:v>
                </c:pt>
                <c:pt idx="2">
                  <c:v>Ressources humaines</c:v>
                </c:pt>
                <c:pt idx="3">
                  <c:v>Direction</c:v>
                </c:pt>
                <c:pt idx="4">
                  <c:v>Finance</c:v>
                </c:pt>
                <c:pt idx="5">
                  <c:v>Commercial et service client</c:v>
                </c:pt>
                <c:pt idx="6">
                  <c:v>Logistique</c:v>
                </c:pt>
                <c:pt idx="7">
                  <c:v>Opérations techniques</c:v>
                </c:pt>
              </c:strCache>
            </c:strRef>
          </c:cat>
          <c:val>
            <c:numRef>
              <c:f>Sheet1!$C$2:$C$9</c:f>
              <c:numCache>
                <c:formatCode>General</c:formatCode>
                <c:ptCount val="8"/>
                <c:pt idx="0">
                  <c:v>0</c:v>
                </c:pt>
                <c:pt idx="1">
                  <c:v>0</c:v>
                </c:pt>
                <c:pt idx="2">
                  <c:v>1</c:v>
                </c:pt>
                <c:pt idx="3">
                  <c:v>0</c:v>
                </c:pt>
                <c:pt idx="4">
                  <c:v>1</c:v>
                </c:pt>
                <c:pt idx="5">
                  <c:v>2</c:v>
                </c:pt>
                <c:pt idx="6">
                  <c:v>1</c:v>
                </c:pt>
                <c:pt idx="7">
                  <c:v>2</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FFFFFF"/>
                    </a:solidFill>
                  </a:ln>
                </c14:spPr>
              </c14:invertSolidFillFmt>
            </c:ext>
            <c:ext xmlns:c16="http://schemas.microsoft.com/office/drawing/2014/chart" uri="{C3380CC4-5D6E-409C-BE32-E72D297353CC}">
              <c16:uniqueId val="{00000001-10F2-4F36-8E6B-3D7A4D4DD4A0}"/>
            </c:ext>
          </c:extLst>
        </c:ser>
        <c:dLbls>
          <c:dLblPos val="ctr"/>
          <c:showLegendKey val="0"/>
          <c:showVal val="1"/>
          <c:showCatName val="0"/>
          <c:showSerName val="0"/>
          <c:showPercent val="0"/>
          <c:showBubbleSize val="0"/>
        </c:dLbls>
        <c:gapWidth val="60"/>
        <c:overlap val="10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D9DEE6"/>
            </a:solidFill>
          </a:ln>
        </c:spPr>
        <c:txPr>
          <a:bodyPr/>
          <a:lstStyle/>
          <a:p>
            <a:pPr>
              <a:defRPr sz="1300"/>
            </a:pPr>
            <a:endParaRPr lang="fr-FR"/>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legend>
      <c:legendPos val="t"/>
      <c:overlay val="0"/>
      <c:txPr>
        <a:bodyPr/>
        <a:lstStyle/>
        <a:p>
          <a:pPr>
            <a:defRPr sz="1400">
              <a:latin typeface="Calibri"/>
            </a:defRPr>
          </a:pPr>
          <a:endParaRPr lang="fr-FR"/>
        </a:p>
      </c:txPr>
    </c:legend>
    <c:plotVisOnly val="1"/>
    <c:dispBlanksAs val="gap"/>
    <c:showDLblsOverMax val="1"/>
  </c:chart>
  <c:txPr>
    <a:bodyPr/>
    <a:lstStyle/>
    <a:p>
      <a:pPr>
        <a:defRPr sz="1300">
          <a:latin typeface="Calibri"/>
        </a:defRP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4393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Bonjour. Je vous présente un projet personnel que j'ai réalisé pour accompagner ma candidature : des outils de gestion administrative RH construits sur des données entièrement fictives. Je précise d'emblée qu'il s'agit d'une démonstration indépendante : Nuru ne l'a ni commandé ni validé. Durée : environ 15 minutes, puis je peux faire une démonstration en direct.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Quatre chiffres résument le projet. 27 collaborateurs actifs, tous fictifs. 3 CDD arrivent à échéance dans les 30 jours : l'outil les signale pour que la décision soit préparée à temps. 10 candidatures suivies en 8 étapes. Et 76 tests automatisés qui vérifient chaque calcul. Le fil conducteur : fiabilité, anticipation, décisions humaines.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 formation en management des organisations m'a appris à analyser un fonctionnement en processus, en rôles et en indicateurs. C'est ce regard que j'applique à la gestion administrative RH. Ma formation en GRH dans le contexte humanitaire m'a sensibilisé(e) à l'équité et à la confidentialité ; ma formation en IA avec Claude m'a appris à utiliser un assistant de façon encadrée. (Adapter : établissements et années.)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J'ai identifié six difficultés fréquentes dans la gestion administrative du personnel : des dossiers difficiles à retrouver, des contrats qui arrivent à échéance sans décision préparée, des effectifs mal connus, des absences suivies dans des fichiers dispersés, un recrutement peu traçable et l'absence de vue d'ensemble. Chaque outil répond à l'un de ces problèmes.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démarche est volontairement simple et reproductible. Je génère des données fictives cohérentes, je les contrôle avec des règles automatiques, je construis les outils, je rédige les documents, je calcule des insights, et des tests vérifient l'ensemble. Si une donnée change, tout se recalcule de façon cohérente.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de suivi administratif réunit sur une page le registre du personnel, les contrats, les absences, les stagiaires et les effectifs. L'onglet Échéances classe les contrats par urgence : 30, 60, 90 jours. Il n'affiche que le nécessaire : pas de date de naissance, pas de salaire, et les absences pour raison de santé apparaissent sous une catégorie confidentielle. La décision contractuelle reste celle du responsable RH.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recrutement suit 8 étapes. Le module indique pour chaque candidature la prochaine action, qui doit la faire et pour quand. Il contrôle le respect du processus : pas de saut d'étape, décision réservée au responsable RH, références contactées seulement avec l'autorisation du candidat. Il ne note pas et ne classe pas les candidats, et ne collecte aucune caractéristique sensible.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tableau de bord réunit les indicateurs clés, trois graphiques, les insights et la liste des actions à effectuer, triée par urgence. Il fonctionne sur ordinateur comme sur téléphone, et les indicateurs s'exportent en CSV pour Excel. Je peux vous le montrer en direct.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la répartition des 27 collaborateurs actifs par département et type de contrat. 26 % de l'effectif est en CDD, avec une part plus élevée dans un département : c'est un point à examiner avec le responsable du département, sans conclusion hâtive. Ce graphique est natif dans PowerPoint : ses données restent modifiables.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tableau de bord calcule aussi des insights : des constats chiffrés, toujours agrégés, sans jugement sur une personne. Échéances de CDD concentrées sur les prochaines semaines : 3 / 7. Actions administratives en retard : 1. Département le plus dépendant des CDD : 40 %. Rotation du personnel depuis janvier : 10,8 %. Chaque constat est accompagné d'une piste, mais la décision appartient au responsable RH.</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J'ai construit ce projet avec l'assistance de Claude Code, et je le dis clairement. Les propositions de l'IA ont été exécutées et vérifiées par des tests. Trois principes : transparence sur l'usage de l'IA, aucune décision automatisée sur les personnes, et protection des données dès la conception.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qualité a été vérifiée concrètement : 76 tests automatisés, 26 règles de cohérence et 11 pages contrôlées, y compris sur une largeur de téléphone. Je présente aussi les limites : ce sont des outils de consultation, sans gestion des droits ; les soldes de congés et les règles juridiques demandent une validation humaine.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aller plus loin, j'ajouterais une saisie sécurisée, le calcul des soldes de congés une fois la règle validée, et une version Power BI. Surtout, j'aimerais apprendre les pratiques réelles de votre équipe : ce projet montre ma façon de travailler, que je souhaite mettre à votre service et enrichir à votre contact.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Merci pour votre attention. Je peux maintenant répondre à vos questions ou ouvrir le tableau de bord et les modules pour une démonstration en direct, sur ordinateur ou sur téléphone.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mailto:barayiheri@gmail.com"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Oval 1"/>
          <p:cNvSpPr/>
          <p:nvPr/>
        </p:nvSpPr>
        <p:spPr>
          <a:xfrm>
            <a:off x="8595360" y="914400"/>
            <a:ext cx="4206240" cy="4206240"/>
          </a:xfrm>
          <a:prstGeom prst="ellipse">
            <a:avLst/>
          </a:prstGeom>
          <a:solidFill>
            <a:srgbClr val="223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966960" y="3291840"/>
            <a:ext cx="2377440" cy="23774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052560" y="4480560"/>
            <a:ext cx="1005840" cy="10058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97280"/>
            <a:ext cx="7680960" cy="365760"/>
          </a:xfrm>
          <a:prstGeom prst="rect">
            <a:avLst/>
          </a:prstGeom>
          <a:noFill/>
        </p:spPr>
        <p:txBody>
          <a:bodyPr wrap="square" lIns="0" tIns="0" rIns="0" bIns="0" anchor="t">
            <a:spAutoFit/>
          </a:bodyPr>
          <a:lstStyle/>
          <a:p>
            <a:pPr algn="l">
              <a:lnSpc>
                <a:spcPct val="115000"/>
              </a:lnSpc>
              <a:spcAft>
                <a:spcPts val="0"/>
              </a:spcAft>
            </a:pPr>
            <a:r>
              <a:rPr sz="1600" b="1">
                <a:solidFill>
                  <a:srgbClr val="EB6834"/>
                </a:solidFill>
                <a:latin typeface="Calibri"/>
              </a:rPr>
              <a:t>NURU HR DIGITAL PORTFOLIO</a:t>
            </a:r>
          </a:p>
        </p:txBody>
      </p:sp>
      <p:sp>
        <p:nvSpPr>
          <p:cNvPr id="6" name="TextBox 5"/>
          <p:cNvSpPr txBox="1"/>
          <p:nvPr/>
        </p:nvSpPr>
        <p:spPr>
          <a:xfrm>
            <a:off x="731520" y="1600200"/>
            <a:ext cx="7680960" cy="1828800"/>
          </a:xfrm>
          <a:prstGeom prst="rect">
            <a:avLst/>
          </a:prstGeom>
          <a:noFill/>
        </p:spPr>
        <p:txBody>
          <a:bodyPr wrap="square" lIns="0" tIns="0" rIns="0" bIns="0" anchor="t">
            <a:spAutoFit/>
          </a:bodyPr>
          <a:lstStyle/>
          <a:p>
            <a:pPr algn="l">
              <a:lnSpc>
                <a:spcPct val="115000"/>
              </a:lnSpc>
              <a:spcAft>
                <a:spcPts val="0"/>
              </a:spcAft>
            </a:pPr>
            <a:r>
              <a:rPr sz="4400" b="1" dirty="0">
                <a:solidFill>
                  <a:srgbClr val="FFFFFF"/>
                </a:solidFill>
                <a:latin typeface="Calibri"/>
              </a:rPr>
              <a:t>Des </a:t>
            </a:r>
            <a:r>
              <a:rPr sz="4400" b="1" dirty="0" err="1">
                <a:solidFill>
                  <a:srgbClr val="FFFFFF"/>
                </a:solidFill>
                <a:latin typeface="Calibri"/>
              </a:rPr>
              <a:t>outils</a:t>
            </a:r>
            <a:r>
              <a:rPr sz="4400" b="1" dirty="0">
                <a:solidFill>
                  <a:srgbClr val="FFFFFF"/>
                </a:solidFill>
                <a:latin typeface="Calibri"/>
              </a:rPr>
              <a:t> RH </a:t>
            </a:r>
            <a:r>
              <a:rPr sz="4400" b="1" dirty="0" err="1">
                <a:solidFill>
                  <a:srgbClr val="FFFFFF"/>
                </a:solidFill>
                <a:latin typeface="Calibri"/>
              </a:rPr>
              <a:t>fiables</a:t>
            </a:r>
            <a:r>
              <a:rPr sz="4400" b="1" dirty="0">
                <a:solidFill>
                  <a:srgbClr val="FFFFFF"/>
                </a:solidFill>
                <a:latin typeface="Calibri"/>
              </a:rPr>
              <a:t>, </a:t>
            </a:r>
            <a:r>
              <a:rPr sz="4400" b="1" dirty="0" err="1">
                <a:solidFill>
                  <a:srgbClr val="FFFFFF"/>
                </a:solidFill>
                <a:latin typeface="Calibri"/>
              </a:rPr>
              <a:t>traçables</a:t>
            </a:r>
            <a:r>
              <a:rPr sz="4400" b="1" dirty="0">
                <a:solidFill>
                  <a:srgbClr val="FFFFFF"/>
                </a:solidFill>
                <a:latin typeface="Calibri"/>
              </a:rPr>
              <a:t> et </a:t>
            </a:r>
            <a:r>
              <a:rPr sz="4400" b="1" dirty="0" err="1">
                <a:solidFill>
                  <a:srgbClr val="FFFFFF"/>
                </a:solidFill>
                <a:latin typeface="Calibri"/>
              </a:rPr>
              <a:t>responsables</a:t>
            </a:r>
            <a:endParaRPr sz="4400" b="1" dirty="0">
              <a:solidFill>
                <a:srgbClr val="FFFFFF"/>
              </a:solidFill>
              <a:latin typeface="Calibri"/>
            </a:endParaRPr>
          </a:p>
        </p:txBody>
      </p:sp>
      <p:sp>
        <p:nvSpPr>
          <p:cNvPr id="7" name="TextBox 6"/>
          <p:cNvSpPr txBox="1"/>
          <p:nvPr/>
        </p:nvSpPr>
        <p:spPr>
          <a:xfrm>
            <a:off x="731520" y="3520440"/>
            <a:ext cx="7498079" cy="822960"/>
          </a:xfrm>
          <a:prstGeom prst="rect">
            <a:avLst/>
          </a:prstGeom>
          <a:noFill/>
        </p:spPr>
        <p:txBody>
          <a:bodyPr wrap="square" lIns="0" tIns="0" rIns="0" bIns="0" anchor="t">
            <a:spAutoFit/>
          </a:bodyPr>
          <a:lstStyle/>
          <a:p>
            <a:pPr algn="l">
              <a:lnSpc>
                <a:spcPct val="115000"/>
              </a:lnSpc>
              <a:spcAft>
                <a:spcPts val="0"/>
              </a:spcAft>
            </a:pPr>
            <a:r>
              <a:rPr sz="1800" b="0">
                <a:solidFill>
                  <a:srgbClr val="C9D3E2"/>
                </a:solidFill>
                <a:latin typeface="Calibri"/>
              </a:rPr>
              <a:t>Projet personnel de démonstration · candidature au stage en Ressources Humaines · Goma</a:t>
            </a:r>
          </a:p>
        </p:txBody>
      </p:sp>
      <p:sp>
        <p:nvSpPr>
          <p:cNvPr id="8" name="TextBox 7"/>
          <p:cNvSpPr txBox="1"/>
          <p:nvPr/>
        </p:nvSpPr>
        <p:spPr>
          <a:xfrm>
            <a:off x="731520" y="4709160"/>
            <a:ext cx="7498079" cy="333168"/>
          </a:xfrm>
          <a:prstGeom prst="rect">
            <a:avLst/>
          </a:prstGeom>
          <a:noFill/>
        </p:spPr>
        <p:txBody>
          <a:bodyPr wrap="square" lIns="0" tIns="0" rIns="0" bIns="0" anchor="t">
            <a:spAutoFit/>
          </a:bodyPr>
          <a:lstStyle/>
          <a:p>
            <a:pPr algn="l">
              <a:lnSpc>
                <a:spcPct val="115000"/>
              </a:lnSpc>
              <a:spcAft>
                <a:spcPts val="0"/>
              </a:spcAft>
            </a:pPr>
            <a:r>
              <a:rPr lang="fr-FR" sz="2000" b="1" dirty="0" smtClean="0">
                <a:solidFill>
                  <a:srgbClr val="FFFFFF"/>
                </a:solidFill>
                <a:latin typeface="Calibri"/>
              </a:rPr>
              <a:t>BARAYI HERI Oscar</a:t>
            </a:r>
            <a:endParaRPr sz="2000" b="1" dirty="0">
              <a:solidFill>
                <a:srgbClr val="FFFFFF"/>
              </a:solidFill>
              <a:latin typeface="Calibri"/>
            </a:endParaRPr>
          </a:p>
        </p:txBody>
      </p:sp>
      <p:sp>
        <p:nvSpPr>
          <p:cNvPr id="9" name="TextBox 8"/>
          <p:cNvSpPr txBox="1"/>
          <p:nvPr/>
        </p:nvSpPr>
        <p:spPr>
          <a:xfrm>
            <a:off x="731520" y="5120640"/>
            <a:ext cx="7498079" cy="247760"/>
          </a:xfrm>
          <a:prstGeom prst="rect">
            <a:avLst/>
          </a:prstGeom>
          <a:noFill/>
        </p:spPr>
        <p:txBody>
          <a:bodyPr wrap="square" lIns="0" tIns="0" rIns="0" bIns="0" anchor="t">
            <a:spAutoFit/>
          </a:bodyPr>
          <a:lstStyle/>
          <a:p>
            <a:pPr algn="l">
              <a:lnSpc>
                <a:spcPct val="115000"/>
              </a:lnSpc>
              <a:spcAft>
                <a:spcPts val="0"/>
              </a:spcAft>
            </a:pPr>
            <a:r>
              <a:rPr sz="1400" b="0" dirty="0" err="1" smtClean="0">
                <a:solidFill>
                  <a:srgbClr val="C9D3E2"/>
                </a:solidFill>
                <a:latin typeface="Calibri"/>
              </a:rPr>
              <a:t>Candidat</a:t>
            </a:r>
            <a:r>
              <a:rPr sz="1400" b="0" dirty="0" smtClean="0">
                <a:solidFill>
                  <a:srgbClr val="C9D3E2"/>
                </a:solidFill>
                <a:latin typeface="Calibri"/>
              </a:rPr>
              <a:t> </a:t>
            </a:r>
            <a:r>
              <a:rPr sz="1400" b="0" dirty="0">
                <a:solidFill>
                  <a:srgbClr val="C9D3E2"/>
                </a:solidFill>
                <a:latin typeface="Calibri"/>
              </a:rPr>
              <a:t>au stage </a:t>
            </a:r>
            <a:r>
              <a:rPr sz="1400" b="0" dirty="0" err="1">
                <a:solidFill>
                  <a:srgbClr val="C9D3E2"/>
                </a:solidFill>
                <a:latin typeface="Calibri"/>
              </a:rPr>
              <a:t>en</a:t>
            </a:r>
            <a:r>
              <a:rPr sz="1400" b="0" dirty="0">
                <a:solidFill>
                  <a:srgbClr val="C9D3E2"/>
                </a:solidFill>
                <a:latin typeface="Calibri"/>
              </a:rPr>
              <a:t> </a:t>
            </a:r>
            <a:r>
              <a:rPr sz="1400" b="0" dirty="0" err="1">
                <a:solidFill>
                  <a:srgbClr val="C9D3E2"/>
                </a:solidFill>
                <a:latin typeface="Calibri"/>
              </a:rPr>
              <a:t>Ressources</a:t>
            </a:r>
            <a:r>
              <a:rPr sz="1400" b="0" dirty="0">
                <a:solidFill>
                  <a:srgbClr val="C9D3E2"/>
                </a:solidFill>
                <a:latin typeface="Calibri"/>
              </a:rPr>
              <a:t> </a:t>
            </a:r>
            <a:r>
              <a:rPr sz="1400" b="0" dirty="0" err="1">
                <a:solidFill>
                  <a:srgbClr val="C9D3E2"/>
                </a:solidFill>
                <a:latin typeface="Calibri"/>
              </a:rPr>
              <a:t>Humaines</a:t>
            </a:r>
            <a:r>
              <a:rPr sz="1400" b="0" dirty="0">
                <a:solidFill>
                  <a:srgbClr val="C9D3E2"/>
                </a:solidFill>
                <a:latin typeface="Calibri"/>
              </a:rPr>
              <a:t> · 14 </a:t>
            </a:r>
            <a:r>
              <a:rPr sz="1400" b="0" dirty="0" err="1">
                <a:solidFill>
                  <a:srgbClr val="C9D3E2"/>
                </a:solidFill>
                <a:latin typeface="Calibri"/>
              </a:rPr>
              <a:t>octobre</a:t>
            </a:r>
            <a:r>
              <a:rPr sz="1400" b="0" dirty="0">
                <a:solidFill>
                  <a:srgbClr val="C9D3E2"/>
                </a:solidFill>
                <a:latin typeface="Calibri"/>
              </a:rPr>
              <a:t> 2026</a:t>
            </a:r>
          </a:p>
        </p:txBody>
      </p:sp>
      <p:sp>
        <p:nvSpPr>
          <p:cNvPr id="10" name="TextBox 9"/>
          <p:cNvSpPr txBox="1"/>
          <p:nvPr/>
        </p:nvSpPr>
        <p:spPr>
          <a:xfrm>
            <a:off x="731520" y="6080760"/>
            <a:ext cx="10789920" cy="365760"/>
          </a:xfrm>
          <a:prstGeom prst="rect">
            <a:avLst/>
          </a:prstGeom>
          <a:noFill/>
        </p:spPr>
        <p:txBody>
          <a:bodyPr wrap="square" lIns="0" tIns="0" rIns="0" bIns="0" anchor="t">
            <a:spAutoFit/>
          </a:bodyPr>
          <a:lstStyle/>
          <a:p>
            <a:pPr algn="l">
              <a:lnSpc>
                <a:spcPct val="115000"/>
              </a:lnSpc>
              <a:spcAft>
                <a:spcPts val="0"/>
              </a:spcAft>
            </a:pPr>
            <a:r>
              <a:rPr sz="1200" b="0">
                <a:solidFill>
                  <a:srgbClr val="AEB9CC"/>
                </a:solidFill>
                <a:latin typeface="Calibri"/>
              </a:rPr>
              <a:t>Données entièrement fictives · projet indépendant de Nuru : ni commandé, ni validé, ni utilisé par Nuru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6400800"/>
            <a:ext cx="8229600" cy="274320"/>
          </a:xfrm>
          <a:prstGeom prst="rect">
            <a:avLst/>
          </a:prstGeom>
          <a:noFill/>
        </p:spPr>
        <p:txBody>
          <a:bodyPr wrap="square" lIns="0" tIns="0" rIns="0" bIns="0" anchor="t">
            <a:spAutoFit/>
          </a:bodyPr>
          <a:lstStyle/>
          <a:p>
            <a:pPr algn="l">
              <a:lnSpc>
                <a:spcPct val="115000"/>
              </a:lnSpc>
              <a:spcAft>
                <a:spcPts val="0"/>
              </a:spcAft>
            </a:pPr>
            <a:r>
              <a:rPr sz="1000" b="0">
                <a:solidFill>
                  <a:srgbClr val="5B6573"/>
                </a:solidFill>
                <a:latin typeface="Calibri"/>
              </a:rPr>
              <a:t>Données fictives · projet personnel indépendant de Nuru</a:t>
            </a:r>
          </a:p>
        </p:txBody>
      </p:sp>
      <p:sp>
        <p:nvSpPr>
          <p:cNvPr id="3" name="TextBox 2"/>
          <p:cNvSpPr txBox="1"/>
          <p:nvPr/>
        </p:nvSpPr>
        <p:spPr>
          <a:xfrm>
            <a:off x="10728655" y="6400800"/>
            <a:ext cx="914400" cy="274320"/>
          </a:xfrm>
          <a:prstGeom prst="rect">
            <a:avLst/>
          </a:prstGeom>
          <a:noFill/>
        </p:spPr>
        <p:txBody>
          <a:bodyPr wrap="square" lIns="0" tIns="0" rIns="0" bIns="0" anchor="t">
            <a:spAutoFit/>
          </a:bodyPr>
          <a:lstStyle/>
          <a:p>
            <a:pPr algn="r">
              <a:lnSpc>
                <a:spcPct val="115000"/>
              </a:lnSpc>
              <a:spcAft>
                <a:spcPts val="0"/>
              </a:spcAft>
            </a:pPr>
            <a:r>
              <a:rPr sz="1000" b="0">
                <a:solidFill>
                  <a:srgbClr val="5B6573"/>
                </a:solidFill>
                <a:latin typeface="Calibri"/>
              </a:rPr>
              <a:t>2</a:t>
            </a:r>
          </a:p>
        </p:txBody>
      </p:sp>
      <p:sp>
        <p:nvSpPr>
          <p:cNvPr id="4" name="TextBox 3"/>
          <p:cNvSpPr txBox="1"/>
          <p:nvPr/>
        </p:nvSpPr>
        <p:spPr>
          <a:xfrm>
            <a:off x="548640" y="411480"/>
            <a:ext cx="11094415" cy="685800"/>
          </a:xfrm>
          <a:prstGeom prst="rect">
            <a:avLst/>
          </a:prstGeom>
          <a:noFill/>
        </p:spPr>
        <p:txBody>
          <a:bodyPr wrap="square" lIns="0" tIns="0" rIns="0" bIns="0" anchor="ctr">
            <a:spAutoFit/>
          </a:bodyPr>
          <a:lstStyle/>
          <a:p>
            <a:pPr algn="l">
              <a:lnSpc>
                <a:spcPct val="115000"/>
              </a:lnSpc>
              <a:spcAft>
                <a:spcPts val="0"/>
              </a:spcAft>
            </a:pPr>
            <a:r>
              <a:rPr sz="3400" b="1">
                <a:solidFill>
                  <a:srgbClr val="14213D"/>
                </a:solidFill>
                <a:latin typeface="Calibri"/>
              </a:rPr>
              <a:t>L'essentiel en quatre chiffres</a:t>
            </a:r>
          </a:p>
        </p:txBody>
      </p:sp>
      <p:sp>
        <p:nvSpPr>
          <p:cNvPr id="5" name="TextBox 4"/>
          <p:cNvSpPr txBox="1"/>
          <p:nvPr/>
        </p:nvSpPr>
        <p:spPr>
          <a:xfrm>
            <a:off x="548640" y="1097280"/>
            <a:ext cx="11094415" cy="411480"/>
          </a:xfrm>
          <a:prstGeom prst="rect">
            <a:avLst/>
          </a:prstGeom>
          <a:noFill/>
        </p:spPr>
        <p:txBody>
          <a:bodyPr wrap="square" lIns="0" tIns="0" rIns="0" bIns="0" anchor="t">
            <a:spAutoFit/>
          </a:bodyPr>
          <a:lstStyle/>
          <a:p>
            <a:pPr algn="l">
              <a:lnSpc>
                <a:spcPct val="115000"/>
              </a:lnSpc>
              <a:spcAft>
                <a:spcPts val="0"/>
              </a:spcAft>
            </a:pPr>
            <a:r>
              <a:rPr sz="1600" b="0">
                <a:solidFill>
                  <a:srgbClr val="5B6573"/>
                </a:solidFill>
                <a:latin typeface="Calibri"/>
              </a:rPr>
              <a:t>Situation fictive au 31 octobre 2026, calculée automatiquement</a:t>
            </a:r>
          </a:p>
        </p:txBody>
      </p:sp>
      <p:sp>
        <p:nvSpPr>
          <p:cNvPr id="6" name="Rounded Rectangle 5"/>
          <p:cNvSpPr/>
          <p:nvPr/>
        </p:nvSpPr>
        <p:spPr>
          <a:xfrm>
            <a:off x="548640" y="1874519"/>
            <a:ext cx="2542032" cy="274320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59" y="2103120"/>
            <a:ext cx="2011680" cy="1188720"/>
          </a:xfrm>
          <a:prstGeom prst="rect">
            <a:avLst/>
          </a:prstGeom>
          <a:noFill/>
        </p:spPr>
        <p:txBody>
          <a:bodyPr wrap="square" lIns="0" tIns="0" rIns="0" bIns="0" anchor="t">
            <a:spAutoFit/>
          </a:bodyPr>
          <a:lstStyle/>
          <a:p>
            <a:pPr algn="l">
              <a:lnSpc>
                <a:spcPct val="115000"/>
              </a:lnSpc>
              <a:spcAft>
                <a:spcPts val="0"/>
              </a:spcAft>
            </a:pPr>
            <a:r>
              <a:rPr sz="6000" b="1">
                <a:solidFill>
                  <a:srgbClr val="EB6834"/>
                </a:solidFill>
                <a:latin typeface="Calibri"/>
              </a:rPr>
              <a:t>27</a:t>
            </a:r>
          </a:p>
        </p:txBody>
      </p:sp>
      <p:sp>
        <p:nvSpPr>
          <p:cNvPr id="8" name="TextBox 7"/>
          <p:cNvSpPr txBox="1"/>
          <p:nvPr/>
        </p:nvSpPr>
        <p:spPr>
          <a:xfrm>
            <a:off x="822959" y="3383280"/>
            <a:ext cx="2011680" cy="1097280"/>
          </a:xfrm>
          <a:prstGeom prst="rect">
            <a:avLst/>
          </a:prstGeom>
          <a:noFill/>
        </p:spPr>
        <p:txBody>
          <a:bodyPr wrap="square" lIns="0" tIns="0" rIns="0" bIns="0" anchor="t">
            <a:spAutoFit/>
          </a:bodyPr>
          <a:lstStyle/>
          <a:p>
            <a:pPr algn="l">
              <a:lnSpc>
                <a:spcPct val="115000"/>
              </a:lnSpc>
              <a:spcAft>
                <a:spcPts val="0"/>
              </a:spcAft>
            </a:pPr>
            <a:r>
              <a:rPr sz="1500" b="0">
                <a:solidFill>
                  <a:srgbClr val="1F2933"/>
                </a:solidFill>
                <a:latin typeface="Calibri"/>
              </a:rPr>
              <a:t>collaborateurs actifs suivis dans un registre unique</a:t>
            </a:r>
          </a:p>
        </p:txBody>
      </p:sp>
      <p:sp>
        <p:nvSpPr>
          <p:cNvPr id="9" name="Rounded Rectangle 8"/>
          <p:cNvSpPr/>
          <p:nvPr/>
        </p:nvSpPr>
        <p:spPr>
          <a:xfrm>
            <a:off x="3364992" y="1874519"/>
            <a:ext cx="2542032" cy="274320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39312" y="2103120"/>
            <a:ext cx="2011680" cy="1188720"/>
          </a:xfrm>
          <a:prstGeom prst="rect">
            <a:avLst/>
          </a:prstGeom>
          <a:noFill/>
        </p:spPr>
        <p:txBody>
          <a:bodyPr wrap="square" lIns="0" tIns="0" rIns="0" bIns="0" anchor="t">
            <a:spAutoFit/>
          </a:bodyPr>
          <a:lstStyle/>
          <a:p>
            <a:pPr algn="l">
              <a:lnSpc>
                <a:spcPct val="115000"/>
              </a:lnSpc>
              <a:spcAft>
                <a:spcPts val="0"/>
              </a:spcAft>
            </a:pPr>
            <a:r>
              <a:rPr sz="6000" b="1">
                <a:solidFill>
                  <a:srgbClr val="EB6834"/>
                </a:solidFill>
                <a:latin typeface="Calibri"/>
              </a:rPr>
              <a:t>3</a:t>
            </a:r>
          </a:p>
        </p:txBody>
      </p:sp>
      <p:sp>
        <p:nvSpPr>
          <p:cNvPr id="11" name="TextBox 10"/>
          <p:cNvSpPr txBox="1"/>
          <p:nvPr/>
        </p:nvSpPr>
        <p:spPr>
          <a:xfrm>
            <a:off x="3639312" y="3383280"/>
            <a:ext cx="2011680" cy="1097280"/>
          </a:xfrm>
          <a:prstGeom prst="rect">
            <a:avLst/>
          </a:prstGeom>
          <a:noFill/>
        </p:spPr>
        <p:txBody>
          <a:bodyPr wrap="square" lIns="0" tIns="0" rIns="0" bIns="0" anchor="t">
            <a:spAutoFit/>
          </a:bodyPr>
          <a:lstStyle/>
          <a:p>
            <a:pPr algn="l">
              <a:lnSpc>
                <a:spcPct val="115000"/>
              </a:lnSpc>
              <a:spcAft>
                <a:spcPts val="0"/>
              </a:spcAft>
            </a:pPr>
            <a:r>
              <a:rPr sz="1500" b="0">
                <a:solidFill>
                  <a:srgbClr val="1F2933"/>
                </a:solidFill>
                <a:latin typeface="Calibri"/>
              </a:rPr>
              <a:t>CDD à échéance sous 30 jours, signalés à temps</a:t>
            </a:r>
          </a:p>
        </p:txBody>
      </p:sp>
      <p:sp>
        <p:nvSpPr>
          <p:cNvPr id="12" name="Rounded Rectangle 11"/>
          <p:cNvSpPr/>
          <p:nvPr/>
        </p:nvSpPr>
        <p:spPr>
          <a:xfrm>
            <a:off x="6181344" y="1874519"/>
            <a:ext cx="2542032" cy="274320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55664" y="2103120"/>
            <a:ext cx="2011680" cy="1188720"/>
          </a:xfrm>
          <a:prstGeom prst="rect">
            <a:avLst/>
          </a:prstGeom>
          <a:noFill/>
        </p:spPr>
        <p:txBody>
          <a:bodyPr wrap="square" lIns="0" tIns="0" rIns="0" bIns="0" anchor="t">
            <a:spAutoFit/>
          </a:bodyPr>
          <a:lstStyle/>
          <a:p>
            <a:pPr algn="l">
              <a:lnSpc>
                <a:spcPct val="115000"/>
              </a:lnSpc>
              <a:spcAft>
                <a:spcPts val="0"/>
              </a:spcAft>
            </a:pPr>
            <a:r>
              <a:rPr sz="6000" b="1">
                <a:solidFill>
                  <a:srgbClr val="EB6834"/>
                </a:solidFill>
                <a:latin typeface="Calibri"/>
              </a:rPr>
              <a:t>10</a:t>
            </a:r>
          </a:p>
        </p:txBody>
      </p:sp>
      <p:sp>
        <p:nvSpPr>
          <p:cNvPr id="14" name="TextBox 13"/>
          <p:cNvSpPr txBox="1"/>
          <p:nvPr/>
        </p:nvSpPr>
        <p:spPr>
          <a:xfrm>
            <a:off x="6455664" y="3383280"/>
            <a:ext cx="2011680" cy="1097280"/>
          </a:xfrm>
          <a:prstGeom prst="rect">
            <a:avLst/>
          </a:prstGeom>
          <a:noFill/>
        </p:spPr>
        <p:txBody>
          <a:bodyPr wrap="square" lIns="0" tIns="0" rIns="0" bIns="0" anchor="t">
            <a:spAutoFit/>
          </a:bodyPr>
          <a:lstStyle/>
          <a:p>
            <a:pPr algn="l">
              <a:lnSpc>
                <a:spcPct val="115000"/>
              </a:lnSpc>
              <a:spcAft>
                <a:spcPts val="0"/>
              </a:spcAft>
            </a:pPr>
            <a:r>
              <a:rPr sz="1500" b="0">
                <a:solidFill>
                  <a:srgbClr val="1F2933"/>
                </a:solidFill>
                <a:latin typeface="Calibri"/>
              </a:rPr>
              <a:t>candidatures suivies en 8 étapes, décisions humaines</a:t>
            </a:r>
          </a:p>
        </p:txBody>
      </p:sp>
      <p:sp>
        <p:nvSpPr>
          <p:cNvPr id="15" name="Rounded Rectangle 14"/>
          <p:cNvSpPr/>
          <p:nvPr/>
        </p:nvSpPr>
        <p:spPr>
          <a:xfrm>
            <a:off x="8997696" y="1874519"/>
            <a:ext cx="2542032" cy="274320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72016" y="2103120"/>
            <a:ext cx="2011680" cy="1188720"/>
          </a:xfrm>
          <a:prstGeom prst="rect">
            <a:avLst/>
          </a:prstGeom>
          <a:noFill/>
        </p:spPr>
        <p:txBody>
          <a:bodyPr wrap="square" lIns="0" tIns="0" rIns="0" bIns="0" anchor="t">
            <a:spAutoFit/>
          </a:bodyPr>
          <a:lstStyle/>
          <a:p>
            <a:pPr algn="l">
              <a:lnSpc>
                <a:spcPct val="115000"/>
              </a:lnSpc>
              <a:spcAft>
                <a:spcPts val="0"/>
              </a:spcAft>
            </a:pPr>
            <a:r>
              <a:rPr sz="6000" b="1">
                <a:solidFill>
                  <a:srgbClr val="EB6834"/>
                </a:solidFill>
                <a:latin typeface="Calibri"/>
              </a:rPr>
              <a:t>76</a:t>
            </a:r>
          </a:p>
        </p:txBody>
      </p:sp>
      <p:sp>
        <p:nvSpPr>
          <p:cNvPr id="17" name="TextBox 16"/>
          <p:cNvSpPr txBox="1"/>
          <p:nvPr/>
        </p:nvSpPr>
        <p:spPr>
          <a:xfrm>
            <a:off x="9272016" y="3383280"/>
            <a:ext cx="2011680" cy="1097280"/>
          </a:xfrm>
          <a:prstGeom prst="rect">
            <a:avLst/>
          </a:prstGeom>
          <a:noFill/>
        </p:spPr>
        <p:txBody>
          <a:bodyPr wrap="square" lIns="0" tIns="0" rIns="0" bIns="0" anchor="t">
            <a:spAutoFit/>
          </a:bodyPr>
          <a:lstStyle/>
          <a:p>
            <a:pPr algn="l">
              <a:lnSpc>
                <a:spcPct val="115000"/>
              </a:lnSpc>
              <a:spcAft>
                <a:spcPts val="0"/>
              </a:spcAft>
            </a:pPr>
            <a:r>
              <a:rPr sz="1500" b="0">
                <a:solidFill>
                  <a:srgbClr val="1F2933"/>
                </a:solidFill>
                <a:latin typeface="Calibri"/>
              </a:rPr>
              <a:t>tests automatisés réussis</a:t>
            </a:r>
          </a:p>
        </p:txBody>
      </p:sp>
      <p:sp>
        <p:nvSpPr>
          <p:cNvPr id="18" name="Rounded Rectangle 17"/>
          <p:cNvSpPr/>
          <p:nvPr/>
        </p:nvSpPr>
        <p:spPr>
          <a:xfrm>
            <a:off x="548640" y="4983480"/>
            <a:ext cx="11091672" cy="100584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4983480"/>
            <a:ext cx="10424160" cy="1005840"/>
          </a:xfrm>
          <a:prstGeom prst="rect">
            <a:avLst/>
          </a:prstGeom>
          <a:noFill/>
        </p:spPr>
        <p:txBody>
          <a:bodyPr wrap="square" lIns="0" tIns="0" rIns="0" bIns="0" anchor="ctr">
            <a:spAutoFit/>
          </a:bodyPr>
          <a:lstStyle/>
          <a:p>
            <a:pPr algn="l">
              <a:lnSpc>
                <a:spcPct val="115000"/>
              </a:lnSpc>
              <a:spcAft>
                <a:spcPts val="0"/>
              </a:spcAft>
            </a:pPr>
            <a:r>
              <a:rPr sz="1800" b="1">
                <a:solidFill>
                  <a:srgbClr val="EB6834"/>
                </a:solidFill>
                <a:latin typeface="Calibri"/>
              </a:rPr>
              <a:t>Le principe : </a:t>
            </a:r>
            <a:r>
              <a:rPr sz="1800" b="0">
                <a:solidFill>
                  <a:srgbClr val="FFFFFF"/>
                </a:solidFill>
                <a:latin typeface="Calibri"/>
              </a:rPr>
              <a:t>des données fiables, des alertes au bon moment, et des décisions qui restent humaines.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6400800"/>
            <a:ext cx="8229600" cy="274320"/>
          </a:xfrm>
          <a:prstGeom prst="rect">
            <a:avLst/>
          </a:prstGeom>
          <a:noFill/>
        </p:spPr>
        <p:txBody>
          <a:bodyPr wrap="square" lIns="0" tIns="0" rIns="0" bIns="0" anchor="t">
            <a:spAutoFit/>
          </a:bodyPr>
          <a:lstStyle/>
          <a:p>
            <a:pPr algn="l">
              <a:lnSpc>
                <a:spcPct val="115000"/>
              </a:lnSpc>
              <a:spcAft>
                <a:spcPts val="0"/>
              </a:spcAft>
            </a:pPr>
            <a:r>
              <a:rPr sz="1000" b="0">
                <a:solidFill>
                  <a:srgbClr val="5B6573"/>
                </a:solidFill>
                <a:latin typeface="Calibri"/>
              </a:rPr>
              <a:t>Données fictives · projet personnel indépendant de Nuru</a:t>
            </a:r>
          </a:p>
        </p:txBody>
      </p:sp>
      <p:sp>
        <p:nvSpPr>
          <p:cNvPr id="3" name="TextBox 2"/>
          <p:cNvSpPr txBox="1"/>
          <p:nvPr/>
        </p:nvSpPr>
        <p:spPr>
          <a:xfrm>
            <a:off x="10728655" y="6400800"/>
            <a:ext cx="914400" cy="274320"/>
          </a:xfrm>
          <a:prstGeom prst="rect">
            <a:avLst/>
          </a:prstGeom>
          <a:noFill/>
        </p:spPr>
        <p:txBody>
          <a:bodyPr wrap="square" lIns="0" tIns="0" rIns="0" bIns="0" anchor="t">
            <a:spAutoFit/>
          </a:bodyPr>
          <a:lstStyle/>
          <a:p>
            <a:pPr algn="r">
              <a:lnSpc>
                <a:spcPct val="115000"/>
              </a:lnSpc>
              <a:spcAft>
                <a:spcPts val="0"/>
              </a:spcAft>
            </a:pPr>
            <a:r>
              <a:rPr sz="1000" b="0">
                <a:solidFill>
                  <a:srgbClr val="5B6573"/>
                </a:solidFill>
                <a:latin typeface="Calibri"/>
              </a:rPr>
              <a:t>3</a:t>
            </a:r>
          </a:p>
        </p:txBody>
      </p:sp>
      <p:sp>
        <p:nvSpPr>
          <p:cNvPr id="4" name="TextBox 3"/>
          <p:cNvSpPr txBox="1"/>
          <p:nvPr/>
        </p:nvSpPr>
        <p:spPr>
          <a:xfrm>
            <a:off x="548640" y="411480"/>
            <a:ext cx="11094415" cy="685800"/>
          </a:xfrm>
          <a:prstGeom prst="rect">
            <a:avLst/>
          </a:prstGeom>
          <a:noFill/>
        </p:spPr>
        <p:txBody>
          <a:bodyPr wrap="square" lIns="0" tIns="0" rIns="0" bIns="0" anchor="ctr">
            <a:spAutoFit/>
          </a:bodyPr>
          <a:lstStyle/>
          <a:p>
            <a:pPr algn="l">
              <a:lnSpc>
                <a:spcPct val="115000"/>
              </a:lnSpc>
              <a:spcAft>
                <a:spcPts val="0"/>
              </a:spcAft>
            </a:pPr>
            <a:r>
              <a:rPr sz="3400" b="1">
                <a:solidFill>
                  <a:srgbClr val="14213D"/>
                </a:solidFill>
                <a:latin typeface="Calibri"/>
              </a:rPr>
              <a:t>Mon profil</a:t>
            </a:r>
          </a:p>
        </p:txBody>
      </p:sp>
      <p:sp>
        <p:nvSpPr>
          <p:cNvPr id="5" name="TextBox 4"/>
          <p:cNvSpPr txBox="1"/>
          <p:nvPr/>
        </p:nvSpPr>
        <p:spPr>
          <a:xfrm>
            <a:off x="548640" y="1097280"/>
            <a:ext cx="11094415" cy="411480"/>
          </a:xfrm>
          <a:prstGeom prst="rect">
            <a:avLst/>
          </a:prstGeom>
          <a:noFill/>
        </p:spPr>
        <p:txBody>
          <a:bodyPr wrap="square" lIns="0" tIns="0" rIns="0" bIns="0" anchor="t">
            <a:spAutoFit/>
          </a:bodyPr>
          <a:lstStyle/>
          <a:p>
            <a:pPr algn="l">
              <a:lnSpc>
                <a:spcPct val="115000"/>
              </a:lnSpc>
              <a:spcAft>
                <a:spcPts val="0"/>
              </a:spcAft>
            </a:pPr>
            <a:r>
              <a:rPr sz="1600" b="0">
                <a:solidFill>
                  <a:srgbClr val="5B6573"/>
                </a:solidFill>
                <a:latin typeface="Calibri"/>
              </a:rPr>
              <a:t>Une formation en management des organisations appliquée à la fonction RH</a:t>
            </a:r>
          </a:p>
        </p:txBody>
      </p:sp>
      <p:sp>
        <p:nvSpPr>
          <p:cNvPr id="6" name="Oval 5"/>
          <p:cNvSpPr/>
          <p:nvPr/>
        </p:nvSpPr>
        <p:spPr>
          <a:xfrm>
            <a:off x="548640" y="1828800"/>
            <a:ext cx="731520" cy="73152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828800"/>
            <a:ext cx="731520" cy="731520"/>
          </a:xfrm>
          <a:prstGeom prst="rect">
            <a:avLst/>
          </a:prstGeom>
          <a:noFill/>
        </p:spPr>
        <p:txBody>
          <a:bodyPr wrap="square" lIns="0" tIns="0" rIns="0" bIns="0" anchor="ctr">
            <a:spAutoFit/>
          </a:bodyPr>
          <a:lstStyle/>
          <a:p>
            <a:pPr algn="ctr">
              <a:lnSpc>
                <a:spcPct val="115000"/>
              </a:lnSpc>
              <a:spcAft>
                <a:spcPts val="0"/>
              </a:spcAft>
            </a:pPr>
            <a:r>
              <a:rPr sz="1600" b="1">
                <a:solidFill>
                  <a:srgbClr val="FFFFFF"/>
                </a:solidFill>
                <a:latin typeface="Calibri"/>
              </a:rPr>
              <a:t>M</a:t>
            </a:r>
          </a:p>
        </p:txBody>
      </p:sp>
      <p:sp>
        <p:nvSpPr>
          <p:cNvPr id="8" name="TextBox 7"/>
          <p:cNvSpPr txBox="1"/>
          <p:nvPr/>
        </p:nvSpPr>
        <p:spPr>
          <a:xfrm>
            <a:off x="1508760" y="1828800"/>
            <a:ext cx="4846320" cy="731520"/>
          </a:xfrm>
          <a:prstGeom prst="rect">
            <a:avLst/>
          </a:prstGeom>
          <a:noFill/>
        </p:spPr>
        <p:txBody>
          <a:bodyPr wrap="square" lIns="0" tIns="0" rIns="0" bIns="0" anchor="ctr">
            <a:spAutoFit/>
          </a:bodyPr>
          <a:lstStyle/>
          <a:p>
            <a:pPr algn="l">
              <a:lnSpc>
                <a:spcPct val="115000"/>
              </a:lnSpc>
              <a:spcAft>
                <a:spcPts val="0"/>
              </a:spcAft>
            </a:pPr>
            <a:r>
              <a:rPr sz="1700" b="1">
                <a:solidFill>
                  <a:srgbClr val="1F2933"/>
                </a:solidFill>
                <a:latin typeface="Calibri"/>
              </a:rPr>
              <a:t>Master en Management des organisations</a:t>
            </a:r>
          </a:p>
        </p:txBody>
      </p:sp>
      <p:sp>
        <p:nvSpPr>
          <p:cNvPr id="9" name="Oval 8"/>
          <p:cNvSpPr/>
          <p:nvPr/>
        </p:nvSpPr>
        <p:spPr>
          <a:xfrm>
            <a:off x="548640" y="2852928"/>
            <a:ext cx="731520" cy="73152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852928"/>
            <a:ext cx="731520" cy="731520"/>
          </a:xfrm>
          <a:prstGeom prst="rect">
            <a:avLst/>
          </a:prstGeom>
          <a:noFill/>
        </p:spPr>
        <p:txBody>
          <a:bodyPr wrap="square" lIns="0" tIns="0" rIns="0" bIns="0" anchor="ctr">
            <a:spAutoFit/>
          </a:bodyPr>
          <a:lstStyle/>
          <a:p>
            <a:pPr algn="ctr">
              <a:lnSpc>
                <a:spcPct val="115000"/>
              </a:lnSpc>
              <a:spcAft>
                <a:spcPts val="0"/>
              </a:spcAft>
            </a:pPr>
            <a:r>
              <a:rPr sz="1600" b="1">
                <a:solidFill>
                  <a:srgbClr val="FFFFFF"/>
                </a:solidFill>
                <a:latin typeface="Calibri"/>
              </a:rPr>
              <a:t>L</a:t>
            </a:r>
          </a:p>
        </p:txBody>
      </p:sp>
      <p:sp>
        <p:nvSpPr>
          <p:cNvPr id="11" name="TextBox 10"/>
          <p:cNvSpPr txBox="1"/>
          <p:nvPr/>
        </p:nvSpPr>
        <p:spPr>
          <a:xfrm>
            <a:off x="1508760" y="2852928"/>
            <a:ext cx="4846320" cy="731520"/>
          </a:xfrm>
          <a:prstGeom prst="rect">
            <a:avLst/>
          </a:prstGeom>
          <a:noFill/>
        </p:spPr>
        <p:txBody>
          <a:bodyPr wrap="square" lIns="0" tIns="0" rIns="0" bIns="0" anchor="ctr">
            <a:spAutoFit/>
          </a:bodyPr>
          <a:lstStyle/>
          <a:p>
            <a:pPr algn="l">
              <a:lnSpc>
                <a:spcPct val="115000"/>
              </a:lnSpc>
              <a:spcAft>
                <a:spcPts val="0"/>
              </a:spcAft>
            </a:pPr>
            <a:r>
              <a:rPr sz="1700" b="1">
                <a:solidFill>
                  <a:srgbClr val="1F2933"/>
                </a:solidFill>
                <a:latin typeface="Calibri"/>
              </a:rPr>
              <a:t>Licence en Sciences administratives et Management</a:t>
            </a:r>
          </a:p>
        </p:txBody>
      </p:sp>
      <p:sp>
        <p:nvSpPr>
          <p:cNvPr id="12" name="Oval 11"/>
          <p:cNvSpPr/>
          <p:nvPr/>
        </p:nvSpPr>
        <p:spPr>
          <a:xfrm>
            <a:off x="548640" y="3877056"/>
            <a:ext cx="731520" cy="7315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3877056"/>
            <a:ext cx="731520" cy="731520"/>
          </a:xfrm>
          <a:prstGeom prst="rect">
            <a:avLst/>
          </a:prstGeom>
          <a:noFill/>
        </p:spPr>
        <p:txBody>
          <a:bodyPr wrap="square" lIns="0" tIns="0" rIns="0" bIns="0" anchor="ctr">
            <a:spAutoFit/>
          </a:bodyPr>
          <a:lstStyle/>
          <a:p>
            <a:pPr algn="ctr">
              <a:lnSpc>
                <a:spcPct val="115000"/>
              </a:lnSpc>
              <a:spcAft>
                <a:spcPts val="0"/>
              </a:spcAft>
            </a:pPr>
            <a:r>
              <a:rPr sz="1500" b="1">
                <a:solidFill>
                  <a:srgbClr val="FFFFFF"/>
                </a:solidFill>
                <a:latin typeface="Calibri"/>
              </a:rPr>
              <a:t>RH</a:t>
            </a:r>
          </a:p>
        </p:txBody>
      </p:sp>
      <p:sp>
        <p:nvSpPr>
          <p:cNvPr id="14" name="TextBox 13"/>
          <p:cNvSpPr txBox="1"/>
          <p:nvPr/>
        </p:nvSpPr>
        <p:spPr>
          <a:xfrm>
            <a:off x="1508760" y="3877056"/>
            <a:ext cx="4846320" cy="731520"/>
          </a:xfrm>
          <a:prstGeom prst="rect">
            <a:avLst/>
          </a:prstGeom>
          <a:noFill/>
        </p:spPr>
        <p:txBody>
          <a:bodyPr wrap="square" lIns="0" tIns="0" rIns="0" bIns="0" anchor="ctr">
            <a:spAutoFit/>
          </a:bodyPr>
          <a:lstStyle/>
          <a:p>
            <a:pPr algn="l">
              <a:lnSpc>
                <a:spcPct val="115000"/>
              </a:lnSpc>
              <a:spcAft>
                <a:spcPts val="0"/>
              </a:spcAft>
            </a:pPr>
            <a:r>
              <a:rPr sz="1700" b="1">
                <a:solidFill>
                  <a:srgbClr val="1F2933"/>
                </a:solidFill>
                <a:latin typeface="Calibri"/>
              </a:rPr>
              <a:t>Formation certifiée : GRH dans le contexte humanitaire</a:t>
            </a:r>
          </a:p>
        </p:txBody>
      </p:sp>
      <p:sp>
        <p:nvSpPr>
          <p:cNvPr id="15" name="Oval 14"/>
          <p:cNvSpPr/>
          <p:nvPr/>
        </p:nvSpPr>
        <p:spPr>
          <a:xfrm>
            <a:off x="548640" y="4901184"/>
            <a:ext cx="731520" cy="7315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4901184"/>
            <a:ext cx="731520" cy="731520"/>
          </a:xfrm>
          <a:prstGeom prst="rect">
            <a:avLst/>
          </a:prstGeom>
          <a:noFill/>
        </p:spPr>
        <p:txBody>
          <a:bodyPr wrap="square" lIns="0" tIns="0" rIns="0" bIns="0" anchor="ctr">
            <a:spAutoFit/>
          </a:bodyPr>
          <a:lstStyle/>
          <a:p>
            <a:pPr algn="ctr">
              <a:lnSpc>
                <a:spcPct val="115000"/>
              </a:lnSpc>
              <a:spcAft>
                <a:spcPts val="0"/>
              </a:spcAft>
            </a:pPr>
            <a:r>
              <a:rPr sz="1500" b="1">
                <a:solidFill>
                  <a:srgbClr val="FFFFFF"/>
                </a:solidFill>
                <a:latin typeface="Calibri"/>
              </a:rPr>
              <a:t>IA</a:t>
            </a:r>
          </a:p>
        </p:txBody>
      </p:sp>
      <p:sp>
        <p:nvSpPr>
          <p:cNvPr id="17" name="TextBox 16"/>
          <p:cNvSpPr txBox="1"/>
          <p:nvPr/>
        </p:nvSpPr>
        <p:spPr>
          <a:xfrm>
            <a:off x="1508760" y="4901184"/>
            <a:ext cx="4846320" cy="731520"/>
          </a:xfrm>
          <a:prstGeom prst="rect">
            <a:avLst/>
          </a:prstGeom>
          <a:noFill/>
        </p:spPr>
        <p:txBody>
          <a:bodyPr wrap="square" lIns="0" tIns="0" rIns="0" bIns="0" anchor="ctr">
            <a:spAutoFit/>
          </a:bodyPr>
          <a:lstStyle/>
          <a:p>
            <a:pPr algn="l">
              <a:lnSpc>
                <a:spcPct val="115000"/>
              </a:lnSpc>
              <a:spcAft>
                <a:spcPts val="0"/>
              </a:spcAft>
            </a:pPr>
            <a:r>
              <a:rPr sz="1700" b="1">
                <a:solidFill>
                  <a:srgbClr val="1F2933"/>
                </a:solidFill>
                <a:latin typeface="Calibri"/>
              </a:rPr>
              <a:t>Formation certifiée : IA appliquée au monde professionnel avec Claude</a:t>
            </a:r>
          </a:p>
        </p:txBody>
      </p:sp>
      <p:sp>
        <p:nvSpPr>
          <p:cNvPr id="18" name="Rounded Rectangle 17"/>
          <p:cNvSpPr/>
          <p:nvPr/>
        </p:nvSpPr>
        <p:spPr>
          <a:xfrm>
            <a:off x="6675120" y="1828800"/>
            <a:ext cx="4965192" cy="393192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40880" y="2057400"/>
            <a:ext cx="4297680" cy="457200"/>
          </a:xfrm>
          <a:prstGeom prst="rect">
            <a:avLst/>
          </a:prstGeom>
          <a:noFill/>
        </p:spPr>
        <p:txBody>
          <a:bodyPr wrap="square" lIns="0" tIns="0" rIns="0" bIns="0" anchor="t">
            <a:spAutoFit/>
          </a:bodyPr>
          <a:lstStyle/>
          <a:p>
            <a:pPr algn="l">
              <a:lnSpc>
                <a:spcPct val="115000"/>
              </a:lnSpc>
              <a:spcAft>
                <a:spcPts val="0"/>
              </a:spcAft>
            </a:pPr>
            <a:r>
              <a:rPr sz="2000" b="1">
                <a:solidFill>
                  <a:srgbClr val="14213D"/>
                </a:solidFill>
                <a:latin typeface="Calibri"/>
              </a:rPr>
              <a:t>Mon approche</a:t>
            </a:r>
          </a:p>
        </p:txBody>
      </p:sp>
      <p:sp>
        <p:nvSpPr>
          <p:cNvPr id="20" name="TextBox 19"/>
          <p:cNvSpPr txBox="1"/>
          <p:nvPr/>
        </p:nvSpPr>
        <p:spPr>
          <a:xfrm>
            <a:off x="7040880" y="2651760"/>
            <a:ext cx="4343400" cy="3017520"/>
          </a:xfrm>
          <a:prstGeom prst="rect">
            <a:avLst/>
          </a:prstGeom>
          <a:noFill/>
        </p:spPr>
        <p:txBody>
          <a:bodyPr wrap="square" lIns="0" tIns="0" rIns="0" bIns="0" anchor="t">
            <a:spAutoFit/>
          </a:bodyPr>
          <a:lstStyle/>
          <a:p>
            <a:pPr marL="228600" indent="-228600" algn="l">
              <a:lnSpc>
                <a:spcPct val="115000"/>
              </a:lnSpc>
              <a:spcAft>
                <a:spcPts val="800"/>
              </a:spcAft>
              <a:buClr>
                <a:srgbClr val="EB6834"/>
              </a:buClr>
              <a:buChar char="•"/>
            </a:pPr>
            <a:r>
              <a:rPr sz="1600" b="0">
                <a:solidFill>
                  <a:srgbClr val="1F2933"/>
                </a:solidFill>
                <a:latin typeface="Calibri"/>
              </a:rPr>
              <a:t>Raisonner en processus, en rôles et en indicateurs</a:t>
            </a:r>
          </a:p>
          <a:p>
            <a:pPr marL="228600" indent="-228600" algn="l">
              <a:lnSpc>
                <a:spcPct val="115000"/>
              </a:lnSpc>
              <a:spcAft>
                <a:spcPts val="800"/>
              </a:spcAft>
              <a:buClr>
                <a:srgbClr val="EB6834"/>
              </a:buClr>
              <a:buChar char="•"/>
            </a:pPr>
            <a:r>
              <a:rPr sz="1600" b="0">
                <a:solidFill>
                  <a:srgbClr val="1F2933"/>
                </a:solidFill>
                <a:latin typeface="Calibri"/>
              </a:rPr>
              <a:t>Laisser une trace écrite de chaque étape</a:t>
            </a:r>
          </a:p>
          <a:p>
            <a:pPr marL="228600" indent="-228600" algn="l">
              <a:lnSpc>
                <a:spcPct val="115000"/>
              </a:lnSpc>
              <a:spcAft>
                <a:spcPts val="800"/>
              </a:spcAft>
              <a:buClr>
                <a:srgbClr val="EB6834"/>
              </a:buClr>
              <a:buChar char="•"/>
            </a:pPr>
            <a:r>
              <a:rPr sz="1600" b="0">
                <a:solidFill>
                  <a:srgbClr val="1F2933"/>
                </a:solidFill>
                <a:latin typeface="Calibri"/>
              </a:rPr>
              <a:t>Anticiper plutôt que réagir dans l'urgence</a:t>
            </a:r>
          </a:p>
          <a:p>
            <a:pPr marL="228600" indent="-228600" algn="l">
              <a:lnSpc>
                <a:spcPct val="115000"/>
              </a:lnSpc>
              <a:spcAft>
                <a:spcPts val="800"/>
              </a:spcAft>
              <a:buClr>
                <a:srgbClr val="EB6834"/>
              </a:buClr>
              <a:buChar char="•"/>
            </a:pPr>
            <a:r>
              <a:rPr sz="1600" b="0">
                <a:solidFill>
                  <a:srgbClr val="1F2933"/>
                </a:solidFill>
                <a:latin typeface="Calibri"/>
              </a:rPr>
              <a:t>Protéger les données des personnes</a:t>
            </a:r>
          </a:p>
          <a:p>
            <a:pPr marL="228600" indent="-228600" algn="l">
              <a:lnSpc>
                <a:spcPct val="115000"/>
              </a:lnSpc>
              <a:spcAft>
                <a:spcPts val="800"/>
              </a:spcAft>
              <a:buClr>
                <a:srgbClr val="EB6834"/>
              </a:buClr>
              <a:buChar char="•"/>
            </a:pPr>
            <a:r>
              <a:rPr sz="1600" b="0">
                <a:solidFill>
                  <a:srgbClr val="1F2933"/>
                </a:solidFill>
                <a:latin typeface="Calibri"/>
              </a:rPr>
              <a:t>Utiliser l'IA comme assistant, jamais comme décideur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6400800"/>
            <a:ext cx="8229600" cy="274320"/>
          </a:xfrm>
          <a:prstGeom prst="rect">
            <a:avLst/>
          </a:prstGeom>
          <a:noFill/>
        </p:spPr>
        <p:txBody>
          <a:bodyPr wrap="square" lIns="0" tIns="0" rIns="0" bIns="0" anchor="t">
            <a:spAutoFit/>
          </a:bodyPr>
          <a:lstStyle/>
          <a:p>
            <a:pPr algn="l">
              <a:lnSpc>
                <a:spcPct val="115000"/>
              </a:lnSpc>
              <a:spcAft>
                <a:spcPts val="0"/>
              </a:spcAft>
            </a:pPr>
            <a:r>
              <a:rPr sz="1000" b="0">
                <a:solidFill>
                  <a:srgbClr val="5B6573"/>
                </a:solidFill>
                <a:latin typeface="Calibri"/>
              </a:rPr>
              <a:t>Données fictives · projet personnel indépendant de Nuru</a:t>
            </a:r>
          </a:p>
        </p:txBody>
      </p:sp>
      <p:sp>
        <p:nvSpPr>
          <p:cNvPr id="3" name="TextBox 2"/>
          <p:cNvSpPr txBox="1"/>
          <p:nvPr/>
        </p:nvSpPr>
        <p:spPr>
          <a:xfrm>
            <a:off x="10728655" y="6400800"/>
            <a:ext cx="914400" cy="274320"/>
          </a:xfrm>
          <a:prstGeom prst="rect">
            <a:avLst/>
          </a:prstGeom>
          <a:noFill/>
        </p:spPr>
        <p:txBody>
          <a:bodyPr wrap="square" lIns="0" tIns="0" rIns="0" bIns="0" anchor="t">
            <a:spAutoFit/>
          </a:bodyPr>
          <a:lstStyle/>
          <a:p>
            <a:pPr algn="r">
              <a:lnSpc>
                <a:spcPct val="115000"/>
              </a:lnSpc>
              <a:spcAft>
                <a:spcPts val="0"/>
              </a:spcAft>
            </a:pPr>
            <a:r>
              <a:rPr sz="1000" b="0">
                <a:solidFill>
                  <a:srgbClr val="5B6573"/>
                </a:solidFill>
                <a:latin typeface="Calibri"/>
              </a:rPr>
              <a:t>4</a:t>
            </a:r>
          </a:p>
        </p:txBody>
      </p:sp>
      <p:sp>
        <p:nvSpPr>
          <p:cNvPr id="4" name="TextBox 3"/>
          <p:cNvSpPr txBox="1"/>
          <p:nvPr/>
        </p:nvSpPr>
        <p:spPr>
          <a:xfrm>
            <a:off x="548640" y="411480"/>
            <a:ext cx="11094415" cy="685800"/>
          </a:xfrm>
          <a:prstGeom prst="rect">
            <a:avLst/>
          </a:prstGeom>
          <a:noFill/>
        </p:spPr>
        <p:txBody>
          <a:bodyPr wrap="square" lIns="0" tIns="0" rIns="0" bIns="0" anchor="ctr">
            <a:spAutoFit/>
          </a:bodyPr>
          <a:lstStyle/>
          <a:p>
            <a:pPr algn="l">
              <a:lnSpc>
                <a:spcPct val="115000"/>
              </a:lnSpc>
              <a:spcAft>
                <a:spcPts val="0"/>
              </a:spcAft>
            </a:pPr>
            <a:r>
              <a:rPr sz="3400" b="1">
                <a:solidFill>
                  <a:srgbClr val="14213D"/>
                </a:solidFill>
                <a:latin typeface="Calibri"/>
              </a:rPr>
              <a:t>Six problèmes RH concrets, six réponses</a:t>
            </a:r>
          </a:p>
        </p:txBody>
      </p:sp>
      <p:sp>
        <p:nvSpPr>
          <p:cNvPr id="5" name="TextBox 4"/>
          <p:cNvSpPr txBox="1"/>
          <p:nvPr/>
        </p:nvSpPr>
        <p:spPr>
          <a:xfrm>
            <a:off x="548640" y="1097280"/>
            <a:ext cx="11094415" cy="411480"/>
          </a:xfrm>
          <a:prstGeom prst="rect">
            <a:avLst/>
          </a:prstGeom>
          <a:noFill/>
        </p:spPr>
        <p:txBody>
          <a:bodyPr wrap="square" lIns="0" tIns="0" rIns="0" bIns="0" anchor="t">
            <a:spAutoFit/>
          </a:bodyPr>
          <a:lstStyle/>
          <a:p>
            <a:pPr algn="l">
              <a:lnSpc>
                <a:spcPct val="115000"/>
              </a:lnSpc>
              <a:spcAft>
                <a:spcPts val="0"/>
              </a:spcAft>
            </a:pPr>
            <a:r>
              <a:rPr sz="1600" b="0">
                <a:solidFill>
                  <a:srgbClr val="5B6573"/>
                </a:solidFill>
                <a:latin typeface="Calibri"/>
              </a:rPr>
              <a:t>Ce que le projet cherche à résoudre</a:t>
            </a:r>
          </a:p>
        </p:txBody>
      </p:sp>
      <p:sp>
        <p:nvSpPr>
          <p:cNvPr id="6" name="Rounded Rectangle 5"/>
          <p:cNvSpPr/>
          <p:nvPr/>
        </p:nvSpPr>
        <p:spPr>
          <a:xfrm>
            <a:off x="548640" y="1828800"/>
            <a:ext cx="3520440" cy="1874519"/>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2959" y="2103120"/>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2103120"/>
            <a:ext cx="548640" cy="548640"/>
          </a:xfrm>
          <a:prstGeom prst="rect">
            <a:avLst/>
          </a:prstGeom>
          <a:noFill/>
        </p:spPr>
        <p:txBody>
          <a:bodyPr wrap="square" lIns="0" tIns="0" rIns="0" bIns="0" anchor="ctr">
            <a:spAutoFit/>
          </a:bodyPr>
          <a:lstStyle/>
          <a:p>
            <a:pPr algn="ctr">
              <a:lnSpc>
                <a:spcPct val="115000"/>
              </a:lnSpc>
              <a:spcAft>
                <a:spcPts val="0"/>
              </a:spcAft>
            </a:pPr>
            <a:r>
              <a:rPr sz="1600" b="1">
                <a:solidFill>
                  <a:srgbClr val="FFFFFF"/>
                </a:solidFill>
                <a:latin typeface="Calibri"/>
              </a:rPr>
              <a:t>1</a:t>
            </a:r>
          </a:p>
        </p:txBody>
      </p:sp>
      <p:sp>
        <p:nvSpPr>
          <p:cNvPr id="9" name="TextBox 8"/>
          <p:cNvSpPr txBox="1"/>
          <p:nvPr/>
        </p:nvSpPr>
        <p:spPr>
          <a:xfrm>
            <a:off x="1554480" y="2057400"/>
            <a:ext cx="2286000" cy="685800"/>
          </a:xfrm>
          <a:prstGeom prst="rect">
            <a:avLst/>
          </a:prstGeom>
          <a:noFill/>
        </p:spPr>
        <p:txBody>
          <a:bodyPr wrap="square" lIns="0" tIns="0" rIns="0" bIns="0" anchor="ctr">
            <a:spAutoFit/>
          </a:bodyPr>
          <a:lstStyle/>
          <a:p>
            <a:pPr algn="l">
              <a:lnSpc>
                <a:spcPct val="115000"/>
              </a:lnSpc>
              <a:spcAft>
                <a:spcPts val="0"/>
              </a:spcAft>
            </a:pPr>
            <a:r>
              <a:rPr sz="1600" b="1">
                <a:solidFill>
                  <a:srgbClr val="14213D"/>
                </a:solidFill>
                <a:latin typeface="Calibri"/>
              </a:rPr>
              <a:t>Dossiers difficiles à retrouver</a:t>
            </a:r>
          </a:p>
        </p:txBody>
      </p:sp>
      <p:sp>
        <p:nvSpPr>
          <p:cNvPr id="10" name="TextBox 9"/>
          <p:cNvSpPr txBox="1"/>
          <p:nvPr/>
        </p:nvSpPr>
        <p:spPr>
          <a:xfrm>
            <a:off x="822959" y="2834640"/>
            <a:ext cx="3017520" cy="731520"/>
          </a:xfrm>
          <a:prstGeom prst="rect">
            <a:avLst/>
          </a:prstGeom>
          <a:noFill/>
        </p:spPr>
        <p:txBody>
          <a:bodyPr wrap="square" lIns="0" tIns="0" rIns="0" bIns="0" anchor="t">
            <a:spAutoFit/>
          </a:bodyPr>
          <a:lstStyle/>
          <a:p>
            <a:pPr algn="l">
              <a:lnSpc>
                <a:spcPct val="115000"/>
              </a:lnSpc>
              <a:spcAft>
                <a:spcPts val="0"/>
              </a:spcAft>
            </a:pPr>
            <a:r>
              <a:rPr sz="1400" b="0">
                <a:solidFill>
                  <a:srgbClr val="1F2933"/>
                </a:solidFill>
                <a:latin typeface="Calibri"/>
              </a:rPr>
              <a:t>Plan de classement et règles de nommage communes.</a:t>
            </a:r>
          </a:p>
        </p:txBody>
      </p:sp>
      <p:sp>
        <p:nvSpPr>
          <p:cNvPr id="11" name="Rounded Rectangle 10"/>
          <p:cNvSpPr/>
          <p:nvPr/>
        </p:nvSpPr>
        <p:spPr>
          <a:xfrm>
            <a:off x="4315968" y="1828800"/>
            <a:ext cx="3520440" cy="1874519"/>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590288" y="2103120"/>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0288" y="2103120"/>
            <a:ext cx="548640" cy="548640"/>
          </a:xfrm>
          <a:prstGeom prst="rect">
            <a:avLst/>
          </a:prstGeom>
          <a:noFill/>
        </p:spPr>
        <p:txBody>
          <a:bodyPr wrap="square" lIns="0" tIns="0" rIns="0" bIns="0" anchor="ctr">
            <a:spAutoFit/>
          </a:bodyPr>
          <a:lstStyle/>
          <a:p>
            <a:pPr algn="ctr">
              <a:lnSpc>
                <a:spcPct val="115000"/>
              </a:lnSpc>
              <a:spcAft>
                <a:spcPts val="0"/>
              </a:spcAft>
            </a:pPr>
            <a:r>
              <a:rPr sz="1600" b="1">
                <a:solidFill>
                  <a:srgbClr val="FFFFFF"/>
                </a:solidFill>
                <a:latin typeface="Calibri"/>
              </a:rPr>
              <a:t>2</a:t>
            </a:r>
          </a:p>
        </p:txBody>
      </p:sp>
      <p:sp>
        <p:nvSpPr>
          <p:cNvPr id="14" name="TextBox 13"/>
          <p:cNvSpPr txBox="1"/>
          <p:nvPr/>
        </p:nvSpPr>
        <p:spPr>
          <a:xfrm>
            <a:off x="5321808" y="2057400"/>
            <a:ext cx="2286000" cy="685800"/>
          </a:xfrm>
          <a:prstGeom prst="rect">
            <a:avLst/>
          </a:prstGeom>
          <a:noFill/>
        </p:spPr>
        <p:txBody>
          <a:bodyPr wrap="square" lIns="0" tIns="0" rIns="0" bIns="0" anchor="ctr">
            <a:spAutoFit/>
          </a:bodyPr>
          <a:lstStyle/>
          <a:p>
            <a:pPr algn="l">
              <a:lnSpc>
                <a:spcPct val="115000"/>
              </a:lnSpc>
              <a:spcAft>
                <a:spcPts val="0"/>
              </a:spcAft>
            </a:pPr>
            <a:r>
              <a:rPr sz="1600" b="1">
                <a:solidFill>
                  <a:srgbClr val="14213D"/>
                </a:solidFill>
                <a:latin typeface="Calibri"/>
              </a:rPr>
              <a:t>Contrats échus sans décision préparée</a:t>
            </a:r>
          </a:p>
        </p:txBody>
      </p:sp>
      <p:sp>
        <p:nvSpPr>
          <p:cNvPr id="15" name="TextBox 14"/>
          <p:cNvSpPr txBox="1"/>
          <p:nvPr/>
        </p:nvSpPr>
        <p:spPr>
          <a:xfrm>
            <a:off x="4590288" y="2834640"/>
            <a:ext cx="3017520" cy="731520"/>
          </a:xfrm>
          <a:prstGeom prst="rect">
            <a:avLst/>
          </a:prstGeom>
          <a:noFill/>
        </p:spPr>
        <p:txBody>
          <a:bodyPr wrap="square" lIns="0" tIns="0" rIns="0" bIns="0" anchor="t">
            <a:spAutoFit/>
          </a:bodyPr>
          <a:lstStyle/>
          <a:p>
            <a:pPr algn="l">
              <a:lnSpc>
                <a:spcPct val="115000"/>
              </a:lnSpc>
              <a:spcAft>
                <a:spcPts val="0"/>
              </a:spcAft>
            </a:pPr>
            <a:r>
              <a:rPr sz="1400" b="0">
                <a:solidFill>
                  <a:srgbClr val="1F2933"/>
                </a:solidFill>
                <a:latin typeface="Calibri"/>
              </a:rPr>
              <a:t>Alertes graduées ; la décision reste au responsable RH.</a:t>
            </a:r>
          </a:p>
        </p:txBody>
      </p:sp>
      <p:sp>
        <p:nvSpPr>
          <p:cNvPr id="16" name="Rounded Rectangle 15"/>
          <p:cNvSpPr/>
          <p:nvPr/>
        </p:nvSpPr>
        <p:spPr>
          <a:xfrm>
            <a:off x="8083296" y="1828800"/>
            <a:ext cx="3520440" cy="1874519"/>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357616" y="2103120"/>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57616" y="2103120"/>
            <a:ext cx="548640" cy="548640"/>
          </a:xfrm>
          <a:prstGeom prst="rect">
            <a:avLst/>
          </a:prstGeom>
          <a:noFill/>
        </p:spPr>
        <p:txBody>
          <a:bodyPr wrap="square" lIns="0" tIns="0" rIns="0" bIns="0" anchor="ctr">
            <a:spAutoFit/>
          </a:bodyPr>
          <a:lstStyle/>
          <a:p>
            <a:pPr algn="ctr">
              <a:lnSpc>
                <a:spcPct val="115000"/>
              </a:lnSpc>
              <a:spcAft>
                <a:spcPts val="0"/>
              </a:spcAft>
            </a:pPr>
            <a:r>
              <a:rPr sz="1600" b="1">
                <a:solidFill>
                  <a:srgbClr val="FFFFFF"/>
                </a:solidFill>
                <a:latin typeface="Calibri"/>
              </a:rPr>
              <a:t>3</a:t>
            </a:r>
          </a:p>
        </p:txBody>
      </p:sp>
      <p:sp>
        <p:nvSpPr>
          <p:cNvPr id="19" name="TextBox 18"/>
          <p:cNvSpPr txBox="1"/>
          <p:nvPr/>
        </p:nvSpPr>
        <p:spPr>
          <a:xfrm>
            <a:off x="9089136" y="2057400"/>
            <a:ext cx="2286000" cy="685800"/>
          </a:xfrm>
          <a:prstGeom prst="rect">
            <a:avLst/>
          </a:prstGeom>
          <a:noFill/>
        </p:spPr>
        <p:txBody>
          <a:bodyPr wrap="square" lIns="0" tIns="0" rIns="0" bIns="0" anchor="ctr">
            <a:spAutoFit/>
          </a:bodyPr>
          <a:lstStyle/>
          <a:p>
            <a:pPr algn="l">
              <a:lnSpc>
                <a:spcPct val="115000"/>
              </a:lnSpc>
              <a:spcAft>
                <a:spcPts val="0"/>
              </a:spcAft>
            </a:pPr>
            <a:r>
              <a:rPr sz="1600" b="1">
                <a:solidFill>
                  <a:srgbClr val="14213D"/>
                </a:solidFill>
                <a:latin typeface="Calibri"/>
              </a:rPr>
              <a:t>Effectifs mal connus d'un mois à l'autre</a:t>
            </a:r>
          </a:p>
        </p:txBody>
      </p:sp>
      <p:sp>
        <p:nvSpPr>
          <p:cNvPr id="20" name="TextBox 19"/>
          <p:cNvSpPr txBox="1"/>
          <p:nvPr/>
        </p:nvSpPr>
        <p:spPr>
          <a:xfrm>
            <a:off x="8357616" y="2834640"/>
            <a:ext cx="3017520" cy="731520"/>
          </a:xfrm>
          <a:prstGeom prst="rect">
            <a:avLst/>
          </a:prstGeom>
          <a:noFill/>
        </p:spPr>
        <p:txBody>
          <a:bodyPr wrap="square" lIns="0" tIns="0" rIns="0" bIns="0" anchor="t">
            <a:spAutoFit/>
          </a:bodyPr>
          <a:lstStyle/>
          <a:p>
            <a:pPr algn="l">
              <a:lnSpc>
                <a:spcPct val="115000"/>
              </a:lnSpc>
              <a:spcAft>
                <a:spcPts val="0"/>
              </a:spcAft>
            </a:pPr>
            <a:r>
              <a:rPr sz="1400" b="0">
                <a:solidFill>
                  <a:srgbClr val="1F2933"/>
                </a:solidFill>
                <a:latin typeface="Calibri"/>
              </a:rPr>
              <a:t>Registre mensuel équilibré automatiquement.</a:t>
            </a:r>
          </a:p>
        </p:txBody>
      </p:sp>
      <p:sp>
        <p:nvSpPr>
          <p:cNvPr id="21" name="Rounded Rectangle 20"/>
          <p:cNvSpPr/>
          <p:nvPr/>
        </p:nvSpPr>
        <p:spPr>
          <a:xfrm>
            <a:off x="548640" y="3977639"/>
            <a:ext cx="3520440" cy="1874519"/>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22959" y="4251959"/>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59" y="4251959"/>
            <a:ext cx="548640" cy="548640"/>
          </a:xfrm>
          <a:prstGeom prst="rect">
            <a:avLst/>
          </a:prstGeom>
          <a:noFill/>
        </p:spPr>
        <p:txBody>
          <a:bodyPr wrap="square" lIns="0" tIns="0" rIns="0" bIns="0" anchor="ctr">
            <a:spAutoFit/>
          </a:bodyPr>
          <a:lstStyle/>
          <a:p>
            <a:pPr algn="ctr">
              <a:lnSpc>
                <a:spcPct val="115000"/>
              </a:lnSpc>
              <a:spcAft>
                <a:spcPts val="0"/>
              </a:spcAft>
            </a:pPr>
            <a:r>
              <a:rPr sz="1600" b="1">
                <a:solidFill>
                  <a:srgbClr val="FFFFFF"/>
                </a:solidFill>
                <a:latin typeface="Calibri"/>
              </a:rPr>
              <a:t>4</a:t>
            </a:r>
          </a:p>
        </p:txBody>
      </p:sp>
      <p:sp>
        <p:nvSpPr>
          <p:cNvPr id="24" name="TextBox 23"/>
          <p:cNvSpPr txBox="1"/>
          <p:nvPr/>
        </p:nvSpPr>
        <p:spPr>
          <a:xfrm>
            <a:off x="1554480" y="4206240"/>
            <a:ext cx="2286000" cy="685800"/>
          </a:xfrm>
          <a:prstGeom prst="rect">
            <a:avLst/>
          </a:prstGeom>
          <a:noFill/>
        </p:spPr>
        <p:txBody>
          <a:bodyPr wrap="square" lIns="0" tIns="0" rIns="0" bIns="0" anchor="ctr">
            <a:spAutoFit/>
          </a:bodyPr>
          <a:lstStyle/>
          <a:p>
            <a:pPr algn="l">
              <a:lnSpc>
                <a:spcPct val="115000"/>
              </a:lnSpc>
              <a:spcAft>
                <a:spcPts val="0"/>
              </a:spcAft>
            </a:pPr>
            <a:r>
              <a:rPr sz="1600" b="1">
                <a:solidFill>
                  <a:srgbClr val="14213D"/>
                </a:solidFill>
                <a:latin typeface="Calibri"/>
              </a:rPr>
              <a:t>Suivi dispersé des absences et stagiaires</a:t>
            </a:r>
          </a:p>
        </p:txBody>
      </p:sp>
      <p:sp>
        <p:nvSpPr>
          <p:cNvPr id="25" name="TextBox 24"/>
          <p:cNvSpPr txBox="1"/>
          <p:nvPr/>
        </p:nvSpPr>
        <p:spPr>
          <a:xfrm>
            <a:off x="822959" y="4983479"/>
            <a:ext cx="3017520" cy="731520"/>
          </a:xfrm>
          <a:prstGeom prst="rect">
            <a:avLst/>
          </a:prstGeom>
          <a:noFill/>
        </p:spPr>
        <p:txBody>
          <a:bodyPr wrap="square" lIns="0" tIns="0" rIns="0" bIns="0" anchor="t">
            <a:spAutoFit/>
          </a:bodyPr>
          <a:lstStyle/>
          <a:p>
            <a:pPr algn="l">
              <a:lnSpc>
                <a:spcPct val="115000"/>
              </a:lnSpc>
              <a:spcAft>
                <a:spcPts val="0"/>
              </a:spcAft>
            </a:pPr>
            <a:r>
              <a:rPr sz="1400" b="0">
                <a:solidFill>
                  <a:srgbClr val="1F2933"/>
                </a:solidFill>
                <a:latin typeface="Calibri"/>
              </a:rPr>
              <a:t>Un registre unique et confidentiel.</a:t>
            </a:r>
          </a:p>
        </p:txBody>
      </p:sp>
      <p:sp>
        <p:nvSpPr>
          <p:cNvPr id="26" name="Rounded Rectangle 25"/>
          <p:cNvSpPr/>
          <p:nvPr/>
        </p:nvSpPr>
        <p:spPr>
          <a:xfrm>
            <a:off x="4315968" y="3977639"/>
            <a:ext cx="3520440" cy="1874519"/>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590288" y="4251959"/>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90288" y="4251959"/>
            <a:ext cx="548640" cy="548640"/>
          </a:xfrm>
          <a:prstGeom prst="rect">
            <a:avLst/>
          </a:prstGeom>
          <a:noFill/>
        </p:spPr>
        <p:txBody>
          <a:bodyPr wrap="square" lIns="0" tIns="0" rIns="0" bIns="0" anchor="ctr">
            <a:spAutoFit/>
          </a:bodyPr>
          <a:lstStyle/>
          <a:p>
            <a:pPr algn="ctr">
              <a:lnSpc>
                <a:spcPct val="115000"/>
              </a:lnSpc>
              <a:spcAft>
                <a:spcPts val="0"/>
              </a:spcAft>
            </a:pPr>
            <a:r>
              <a:rPr sz="1600" b="1">
                <a:solidFill>
                  <a:srgbClr val="FFFFFF"/>
                </a:solidFill>
                <a:latin typeface="Calibri"/>
              </a:rPr>
              <a:t>5</a:t>
            </a:r>
          </a:p>
        </p:txBody>
      </p:sp>
      <p:sp>
        <p:nvSpPr>
          <p:cNvPr id="29" name="TextBox 28"/>
          <p:cNvSpPr txBox="1"/>
          <p:nvPr/>
        </p:nvSpPr>
        <p:spPr>
          <a:xfrm>
            <a:off x="5321808" y="4206240"/>
            <a:ext cx="2286000" cy="685800"/>
          </a:xfrm>
          <a:prstGeom prst="rect">
            <a:avLst/>
          </a:prstGeom>
          <a:noFill/>
        </p:spPr>
        <p:txBody>
          <a:bodyPr wrap="square" lIns="0" tIns="0" rIns="0" bIns="0" anchor="ctr">
            <a:spAutoFit/>
          </a:bodyPr>
          <a:lstStyle/>
          <a:p>
            <a:pPr algn="l">
              <a:lnSpc>
                <a:spcPct val="115000"/>
              </a:lnSpc>
              <a:spcAft>
                <a:spcPts val="0"/>
              </a:spcAft>
            </a:pPr>
            <a:r>
              <a:rPr sz="1600" b="1">
                <a:solidFill>
                  <a:srgbClr val="14213D"/>
                </a:solidFill>
                <a:latin typeface="Calibri"/>
              </a:rPr>
              <a:t>Recrutement peu traçable</a:t>
            </a:r>
          </a:p>
        </p:txBody>
      </p:sp>
      <p:sp>
        <p:nvSpPr>
          <p:cNvPr id="30" name="TextBox 29"/>
          <p:cNvSpPr txBox="1"/>
          <p:nvPr/>
        </p:nvSpPr>
        <p:spPr>
          <a:xfrm>
            <a:off x="4590288" y="4983479"/>
            <a:ext cx="3017520" cy="731520"/>
          </a:xfrm>
          <a:prstGeom prst="rect">
            <a:avLst/>
          </a:prstGeom>
          <a:noFill/>
        </p:spPr>
        <p:txBody>
          <a:bodyPr wrap="square" lIns="0" tIns="0" rIns="0" bIns="0" anchor="t">
            <a:spAutoFit/>
          </a:bodyPr>
          <a:lstStyle/>
          <a:p>
            <a:pPr algn="l">
              <a:lnSpc>
                <a:spcPct val="115000"/>
              </a:lnSpc>
              <a:spcAft>
                <a:spcPts val="0"/>
              </a:spcAft>
            </a:pPr>
            <a:r>
              <a:rPr sz="1400" b="0">
                <a:solidFill>
                  <a:srgbClr val="1F2933"/>
                </a:solidFill>
                <a:latin typeface="Calibri"/>
              </a:rPr>
              <a:t>Prochaine action, responsable et échéance pour chaque dossier.</a:t>
            </a:r>
          </a:p>
        </p:txBody>
      </p:sp>
      <p:sp>
        <p:nvSpPr>
          <p:cNvPr id="31" name="Rounded Rectangle 30"/>
          <p:cNvSpPr/>
          <p:nvPr/>
        </p:nvSpPr>
        <p:spPr>
          <a:xfrm>
            <a:off x="8083296" y="3977639"/>
            <a:ext cx="3520440" cy="1874519"/>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357616" y="4251959"/>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357616" y="4251959"/>
            <a:ext cx="548640" cy="548640"/>
          </a:xfrm>
          <a:prstGeom prst="rect">
            <a:avLst/>
          </a:prstGeom>
          <a:noFill/>
        </p:spPr>
        <p:txBody>
          <a:bodyPr wrap="square" lIns="0" tIns="0" rIns="0" bIns="0" anchor="ctr">
            <a:spAutoFit/>
          </a:bodyPr>
          <a:lstStyle/>
          <a:p>
            <a:pPr algn="ctr">
              <a:lnSpc>
                <a:spcPct val="115000"/>
              </a:lnSpc>
              <a:spcAft>
                <a:spcPts val="0"/>
              </a:spcAft>
            </a:pPr>
            <a:r>
              <a:rPr sz="1600" b="1">
                <a:solidFill>
                  <a:srgbClr val="FFFFFF"/>
                </a:solidFill>
                <a:latin typeface="Calibri"/>
              </a:rPr>
              <a:t>6</a:t>
            </a:r>
          </a:p>
        </p:txBody>
      </p:sp>
      <p:sp>
        <p:nvSpPr>
          <p:cNvPr id="34" name="TextBox 33"/>
          <p:cNvSpPr txBox="1"/>
          <p:nvPr/>
        </p:nvSpPr>
        <p:spPr>
          <a:xfrm>
            <a:off x="9089136" y="4206240"/>
            <a:ext cx="2286000" cy="685800"/>
          </a:xfrm>
          <a:prstGeom prst="rect">
            <a:avLst/>
          </a:prstGeom>
          <a:noFill/>
        </p:spPr>
        <p:txBody>
          <a:bodyPr wrap="square" lIns="0" tIns="0" rIns="0" bIns="0" anchor="ctr">
            <a:spAutoFit/>
          </a:bodyPr>
          <a:lstStyle/>
          <a:p>
            <a:pPr algn="l">
              <a:lnSpc>
                <a:spcPct val="115000"/>
              </a:lnSpc>
              <a:spcAft>
                <a:spcPts val="0"/>
              </a:spcAft>
            </a:pPr>
            <a:r>
              <a:rPr sz="1600" b="1">
                <a:solidFill>
                  <a:srgbClr val="14213D"/>
                </a:solidFill>
                <a:latin typeface="Calibri"/>
              </a:rPr>
              <a:t>Pas de vue d'ensemble pour piloter</a:t>
            </a:r>
          </a:p>
        </p:txBody>
      </p:sp>
      <p:sp>
        <p:nvSpPr>
          <p:cNvPr id="35" name="TextBox 34"/>
          <p:cNvSpPr txBox="1"/>
          <p:nvPr/>
        </p:nvSpPr>
        <p:spPr>
          <a:xfrm>
            <a:off x="8357616" y="4983479"/>
            <a:ext cx="3017520" cy="731520"/>
          </a:xfrm>
          <a:prstGeom prst="rect">
            <a:avLst/>
          </a:prstGeom>
          <a:noFill/>
        </p:spPr>
        <p:txBody>
          <a:bodyPr wrap="square" lIns="0" tIns="0" rIns="0" bIns="0" anchor="t">
            <a:spAutoFit/>
          </a:bodyPr>
          <a:lstStyle/>
          <a:p>
            <a:pPr algn="l">
              <a:lnSpc>
                <a:spcPct val="115000"/>
              </a:lnSpc>
              <a:spcAft>
                <a:spcPts val="0"/>
              </a:spcAft>
            </a:pPr>
            <a:r>
              <a:rPr sz="1400" b="0">
                <a:solidFill>
                  <a:srgbClr val="1F2933"/>
                </a:solidFill>
                <a:latin typeface="Calibri"/>
              </a:rPr>
              <a:t>Un tableau de bord à jour en une commande.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6400800"/>
            <a:ext cx="8229600" cy="274320"/>
          </a:xfrm>
          <a:prstGeom prst="rect">
            <a:avLst/>
          </a:prstGeom>
          <a:noFill/>
        </p:spPr>
        <p:txBody>
          <a:bodyPr wrap="square" lIns="0" tIns="0" rIns="0" bIns="0" anchor="t">
            <a:spAutoFit/>
          </a:bodyPr>
          <a:lstStyle/>
          <a:p>
            <a:pPr algn="l">
              <a:lnSpc>
                <a:spcPct val="115000"/>
              </a:lnSpc>
              <a:spcAft>
                <a:spcPts val="0"/>
              </a:spcAft>
            </a:pPr>
            <a:r>
              <a:rPr sz="1000" b="0">
                <a:solidFill>
                  <a:srgbClr val="5B6573"/>
                </a:solidFill>
                <a:latin typeface="Calibri"/>
              </a:rPr>
              <a:t>Données fictives · projet personnel indépendant de Nuru</a:t>
            </a:r>
          </a:p>
        </p:txBody>
      </p:sp>
      <p:sp>
        <p:nvSpPr>
          <p:cNvPr id="3" name="TextBox 2"/>
          <p:cNvSpPr txBox="1"/>
          <p:nvPr/>
        </p:nvSpPr>
        <p:spPr>
          <a:xfrm>
            <a:off x="10728655" y="6400800"/>
            <a:ext cx="914400" cy="274320"/>
          </a:xfrm>
          <a:prstGeom prst="rect">
            <a:avLst/>
          </a:prstGeom>
          <a:noFill/>
        </p:spPr>
        <p:txBody>
          <a:bodyPr wrap="square" lIns="0" tIns="0" rIns="0" bIns="0" anchor="t">
            <a:spAutoFit/>
          </a:bodyPr>
          <a:lstStyle/>
          <a:p>
            <a:pPr algn="r">
              <a:lnSpc>
                <a:spcPct val="115000"/>
              </a:lnSpc>
              <a:spcAft>
                <a:spcPts val="0"/>
              </a:spcAft>
            </a:pPr>
            <a:r>
              <a:rPr sz="1000" b="0">
                <a:solidFill>
                  <a:srgbClr val="5B6573"/>
                </a:solidFill>
                <a:latin typeface="Calibri"/>
              </a:rPr>
              <a:t>5</a:t>
            </a:r>
          </a:p>
        </p:txBody>
      </p:sp>
      <p:sp>
        <p:nvSpPr>
          <p:cNvPr id="4" name="TextBox 3"/>
          <p:cNvSpPr txBox="1"/>
          <p:nvPr/>
        </p:nvSpPr>
        <p:spPr>
          <a:xfrm>
            <a:off x="548640" y="411480"/>
            <a:ext cx="11094415" cy="685800"/>
          </a:xfrm>
          <a:prstGeom prst="rect">
            <a:avLst/>
          </a:prstGeom>
          <a:noFill/>
        </p:spPr>
        <p:txBody>
          <a:bodyPr wrap="square" lIns="0" tIns="0" rIns="0" bIns="0" anchor="ctr">
            <a:spAutoFit/>
          </a:bodyPr>
          <a:lstStyle/>
          <a:p>
            <a:pPr algn="l">
              <a:lnSpc>
                <a:spcPct val="115000"/>
              </a:lnSpc>
              <a:spcAft>
                <a:spcPts val="0"/>
              </a:spcAft>
            </a:pPr>
            <a:r>
              <a:rPr sz="3400" b="1">
                <a:solidFill>
                  <a:srgbClr val="14213D"/>
                </a:solidFill>
                <a:latin typeface="Calibri"/>
              </a:rPr>
              <a:t>Ma démarche en six étapes</a:t>
            </a:r>
          </a:p>
        </p:txBody>
      </p:sp>
      <p:sp>
        <p:nvSpPr>
          <p:cNvPr id="5" name="TextBox 4"/>
          <p:cNvSpPr txBox="1"/>
          <p:nvPr/>
        </p:nvSpPr>
        <p:spPr>
          <a:xfrm>
            <a:off x="548640" y="1097280"/>
            <a:ext cx="11094415" cy="411480"/>
          </a:xfrm>
          <a:prstGeom prst="rect">
            <a:avLst/>
          </a:prstGeom>
          <a:noFill/>
        </p:spPr>
        <p:txBody>
          <a:bodyPr wrap="square" lIns="0" tIns="0" rIns="0" bIns="0" anchor="t">
            <a:spAutoFit/>
          </a:bodyPr>
          <a:lstStyle/>
          <a:p>
            <a:pPr algn="l">
              <a:lnSpc>
                <a:spcPct val="115000"/>
              </a:lnSpc>
              <a:spcAft>
                <a:spcPts val="0"/>
              </a:spcAft>
            </a:pPr>
            <a:r>
              <a:rPr sz="1600" b="0">
                <a:solidFill>
                  <a:srgbClr val="5B6573"/>
                </a:solidFill>
                <a:latin typeface="Calibri"/>
              </a:rPr>
              <a:t>Une chaîne reproductible : une commande suffit pour tout régénérer</a:t>
            </a:r>
          </a:p>
        </p:txBody>
      </p:sp>
      <p:cxnSp>
        <p:nvCxnSpPr>
          <p:cNvPr id="6" name="Connector 5"/>
          <p:cNvCxnSpPr/>
          <p:nvPr/>
        </p:nvCxnSpPr>
        <p:spPr>
          <a:xfrm>
            <a:off x="1234440" y="2788920"/>
            <a:ext cx="9738360" cy="0"/>
          </a:xfrm>
          <a:prstGeom prst="line">
            <a:avLst/>
          </a:prstGeom>
          <a:ln w="38100">
            <a:solidFill>
              <a:srgbClr val="D9DEE6"/>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777240" y="2331720"/>
            <a:ext cx="914400" cy="9144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331720"/>
            <a:ext cx="914400" cy="914400"/>
          </a:xfrm>
          <a:prstGeom prst="rect">
            <a:avLst/>
          </a:prstGeom>
          <a:noFill/>
        </p:spPr>
        <p:txBody>
          <a:bodyPr wrap="square" lIns="0" tIns="0" rIns="0" bIns="0" anchor="ctr">
            <a:spAutoFit/>
          </a:bodyPr>
          <a:lstStyle/>
          <a:p>
            <a:pPr algn="ctr">
              <a:lnSpc>
                <a:spcPct val="115000"/>
              </a:lnSpc>
              <a:spcAft>
                <a:spcPts val="0"/>
              </a:spcAft>
            </a:pPr>
            <a:r>
              <a:rPr sz="2200" b="1">
                <a:solidFill>
                  <a:srgbClr val="FFFFFF"/>
                </a:solidFill>
                <a:latin typeface="Calibri"/>
              </a:rPr>
              <a:t>1</a:t>
            </a:r>
          </a:p>
        </p:txBody>
      </p:sp>
      <p:sp>
        <p:nvSpPr>
          <p:cNvPr id="9" name="TextBox 8"/>
          <p:cNvSpPr txBox="1"/>
          <p:nvPr/>
        </p:nvSpPr>
        <p:spPr>
          <a:xfrm>
            <a:off x="320040" y="3474720"/>
            <a:ext cx="1828800" cy="411480"/>
          </a:xfrm>
          <a:prstGeom prst="rect">
            <a:avLst/>
          </a:prstGeom>
          <a:noFill/>
        </p:spPr>
        <p:txBody>
          <a:bodyPr wrap="square" lIns="0" tIns="0" rIns="0" bIns="0" anchor="t">
            <a:spAutoFit/>
          </a:bodyPr>
          <a:lstStyle/>
          <a:p>
            <a:pPr algn="ctr">
              <a:lnSpc>
                <a:spcPct val="115000"/>
              </a:lnSpc>
              <a:spcAft>
                <a:spcPts val="0"/>
              </a:spcAft>
            </a:pPr>
            <a:r>
              <a:rPr sz="1800" b="1">
                <a:solidFill>
                  <a:srgbClr val="14213D"/>
                </a:solidFill>
                <a:latin typeface="Calibri"/>
              </a:rPr>
              <a:t>Données</a:t>
            </a:r>
          </a:p>
        </p:txBody>
      </p:sp>
      <p:sp>
        <p:nvSpPr>
          <p:cNvPr id="10" name="TextBox 9"/>
          <p:cNvSpPr txBox="1"/>
          <p:nvPr/>
        </p:nvSpPr>
        <p:spPr>
          <a:xfrm>
            <a:off x="320040" y="3931920"/>
            <a:ext cx="1828800" cy="731520"/>
          </a:xfrm>
          <a:prstGeom prst="rect">
            <a:avLst/>
          </a:prstGeom>
          <a:noFill/>
        </p:spPr>
        <p:txBody>
          <a:bodyPr wrap="square" lIns="0" tIns="0" rIns="0" bIns="0" anchor="t">
            <a:spAutoFit/>
          </a:bodyPr>
          <a:lstStyle/>
          <a:p>
            <a:pPr algn="ctr">
              <a:lnSpc>
                <a:spcPct val="115000"/>
              </a:lnSpc>
              <a:spcAft>
                <a:spcPts val="0"/>
              </a:spcAft>
            </a:pPr>
            <a:r>
              <a:rPr sz="1400" b="0">
                <a:solidFill>
                  <a:srgbClr val="5B6573"/>
                </a:solidFill>
                <a:latin typeface="Calibri"/>
              </a:rPr>
              <a:t>30 collaborateurs fictifs</a:t>
            </a:r>
          </a:p>
        </p:txBody>
      </p:sp>
      <p:sp>
        <p:nvSpPr>
          <p:cNvPr id="11" name="Oval 10"/>
          <p:cNvSpPr/>
          <p:nvPr/>
        </p:nvSpPr>
        <p:spPr>
          <a:xfrm>
            <a:off x="2724912" y="2331720"/>
            <a:ext cx="914400" cy="9144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24912" y="2331720"/>
            <a:ext cx="914400" cy="914400"/>
          </a:xfrm>
          <a:prstGeom prst="rect">
            <a:avLst/>
          </a:prstGeom>
          <a:noFill/>
        </p:spPr>
        <p:txBody>
          <a:bodyPr wrap="square" lIns="0" tIns="0" rIns="0" bIns="0" anchor="ctr">
            <a:spAutoFit/>
          </a:bodyPr>
          <a:lstStyle/>
          <a:p>
            <a:pPr algn="ctr">
              <a:lnSpc>
                <a:spcPct val="115000"/>
              </a:lnSpc>
              <a:spcAft>
                <a:spcPts val="0"/>
              </a:spcAft>
            </a:pPr>
            <a:r>
              <a:rPr sz="2200" b="1">
                <a:solidFill>
                  <a:srgbClr val="FFFFFF"/>
                </a:solidFill>
                <a:latin typeface="Calibri"/>
              </a:rPr>
              <a:t>2</a:t>
            </a:r>
          </a:p>
        </p:txBody>
      </p:sp>
      <p:sp>
        <p:nvSpPr>
          <p:cNvPr id="13" name="TextBox 12"/>
          <p:cNvSpPr txBox="1"/>
          <p:nvPr/>
        </p:nvSpPr>
        <p:spPr>
          <a:xfrm>
            <a:off x="2267712" y="3474720"/>
            <a:ext cx="1828800" cy="411480"/>
          </a:xfrm>
          <a:prstGeom prst="rect">
            <a:avLst/>
          </a:prstGeom>
          <a:noFill/>
        </p:spPr>
        <p:txBody>
          <a:bodyPr wrap="square" lIns="0" tIns="0" rIns="0" bIns="0" anchor="t">
            <a:spAutoFit/>
          </a:bodyPr>
          <a:lstStyle/>
          <a:p>
            <a:pPr algn="ctr">
              <a:lnSpc>
                <a:spcPct val="115000"/>
              </a:lnSpc>
              <a:spcAft>
                <a:spcPts val="0"/>
              </a:spcAft>
            </a:pPr>
            <a:r>
              <a:rPr sz="1800" b="1">
                <a:solidFill>
                  <a:srgbClr val="14213D"/>
                </a:solidFill>
                <a:latin typeface="Calibri"/>
              </a:rPr>
              <a:t>Contrôle</a:t>
            </a:r>
          </a:p>
        </p:txBody>
      </p:sp>
      <p:sp>
        <p:nvSpPr>
          <p:cNvPr id="14" name="TextBox 13"/>
          <p:cNvSpPr txBox="1"/>
          <p:nvPr/>
        </p:nvSpPr>
        <p:spPr>
          <a:xfrm>
            <a:off x="2267712" y="3931920"/>
            <a:ext cx="1828800" cy="731520"/>
          </a:xfrm>
          <a:prstGeom prst="rect">
            <a:avLst/>
          </a:prstGeom>
          <a:noFill/>
        </p:spPr>
        <p:txBody>
          <a:bodyPr wrap="square" lIns="0" tIns="0" rIns="0" bIns="0" anchor="t">
            <a:spAutoFit/>
          </a:bodyPr>
          <a:lstStyle/>
          <a:p>
            <a:pPr algn="ctr">
              <a:lnSpc>
                <a:spcPct val="115000"/>
              </a:lnSpc>
              <a:spcAft>
                <a:spcPts val="0"/>
              </a:spcAft>
            </a:pPr>
            <a:r>
              <a:rPr sz="1400" b="0">
                <a:solidFill>
                  <a:srgbClr val="5B6573"/>
                </a:solidFill>
                <a:latin typeface="Calibri"/>
              </a:rPr>
              <a:t>26 règles de cohérence</a:t>
            </a:r>
          </a:p>
        </p:txBody>
      </p:sp>
      <p:sp>
        <p:nvSpPr>
          <p:cNvPr id="15" name="Oval 14"/>
          <p:cNvSpPr/>
          <p:nvPr/>
        </p:nvSpPr>
        <p:spPr>
          <a:xfrm>
            <a:off x="4672583" y="2331720"/>
            <a:ext cx="914400" cy="9144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72583" y="2331720"/>
            <a:ext cx="914400" cy="914400"/>
          </a:xfrm>
          <a:prstGeom prst="rect">
            <a:avLst/>
          </a:prstGeom>
          <a:noFill/>
        </p:spPr>
        <p:txBody>
          <a:bodyPr wrap="square" lIns="0" tIns="0" rIns="0" bIns="0" anchor="ctr">
            <a:spAutoFit/>
          </a:bodyPr>
          <a:lstStyle/>
          <a:p>
            <a:pPr algn="ctr">
              <a:lnSpc>
                <a:spcPct val="115000"/>
              </a:lnSpc>
              <a:spcAft>
                <a:spcPts val="0"/>
              </a:spcAft>
            </a:pPr>
            <a:r>
              <a:rPr sz="2200" b="1">
                <a:solidFill>
                  <a:srgbClr val="FFFFFF"/>
                </a:solidFill>
                <a:latin typeface="Calibri"/>
              </a:rPr>
              <a:t>3</a:t>
            </a:r>
          </a:p>
        </p:txBody>
      </p:sp>
      <p:sp>
        <p:nvSpPr>
          <p:cNvPr id="17" name="TextBox 16"/>
          <p:cNvSpPr txBox="1"/>
          <p:nvPr/>
        </p:nvSpPr>
        <p:spPr>
          <a:xfrm>
            <a:off x="4215383" y="3474720"/>
            <a:ext cx="1828800" cy="411480"/>
          </a:xfrm>
          <a:prstGeom prst="rect">
            <a:avLst/>
          </a:prstGeom>
          <a:noFill/>
        </p:spPr>
        <p:txBody>
          <a:bodyPr wrap="square" lIns="0" tIns="0" rIns="0" bIns="0" anchor="t">
            <a:spAutoFit/>
          </a:bodyPr>
          <a:lstStyle/>
          <a:p>
            <a:pPr algn="ctr">
              <a:lnSpc>
                <a:spcPct val="115000"/>
              </a:lnSpc>
              <a:spcAft>
                <a:spcPts val="0"/>
              </a:spcAft>
            </a:pPr>
            <a:r>
              <a:rPr sz="1800" b="1">
                <a:solidFill>
                  <a:srgbClr val="14213D"/>
                </a:solidFill>
                <a:latin typeface="Calibri"/>
              </a:rPr>
              <a:t>Outils</a:t>
            </a:r>
          </a:p>
        </p:txBody>
      </p:sp>
      <p:sp>
        <p:nvSpPr>
          <p:cNvPr id="18" name="TextBox 17"/>
          <p:cNvSpPr txBox="1"/>
          <p:nvPr/>
        </p:nvSpPr>
        <p:spPr>
          <a:xfrm>
            <a:off x="4215383" y="3931920"/>
            <a:ext cx="1828800" cy="731520"/>
          </a:xfrm>
          <a:prstGeom prst="rect">
            <a:avLst/>
          </a:prstGeom>
          <a:noFill/>
        </p:spPr>
        <p:txBody>
          <a:bodyPr wrap="square" lIns="0" tIns="0" rIns="0" bIns="0" anchor="t">
            <a:spAutoFit/>
          </a:bodyPr>
          <a:lstStyle/>
          <a:p>
            <a:pPr algn="ctr">
              <a:lnSpc>
                <a:spcPct val="115000"/>
              </a:lnSpc>
              <a:spcAft>
                <a:spcPts val="0"/>
              </a:spcAft>
            </a:pPr>
            <a:r>
              <a:rPr sz="1400" b="0">
                <a:solidFill>
                  <a:srgbClr val="5B6573"/>
                </a:solidFill>
                <a:latin typeface="Calibri"/>
              </a:rPr>
              <a:t>3 pages de consultation</a:t>
            </a:r>
          </a:p>
        </p:txBody>
      </p:sp>
      <p:sp>
        <p:nvSpPr>
          <p:cNvPr id="19" name="Oval 18"/>
          <p:cNvSpPr/>
          <p:nvPr/>
        </p:nvSpPr>
        <p:spPr>
          <a:xfrm>
            <a:off x="6620256" y="2331720"/>
            <a:ext cx="914400" cy="9144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20256" y="2331720"/>
            <a:ext cx="914400" cy="914400"/>
          </a:xfrm>
          <a:prstGeom prst="rect">
            <a:avLst/>
          </a:prstGeom>
          <a:noFill/>
        </p:spPr>
        <p:txBody>
          <a:bodyPr wrap="square" lIns="0" tIns="0" rIns="0" bIns="0" anchor="ctr">
            <a:spAutoFit/>
          </a:bodyPr>
          <a:lstStyle/>
          <a:p>
            <a:pPr algn="ctr">
              <a:lnSpc>
                <a:spcPct val="115000"/>
              </a:lnSpc>
              <a:spcAft>
                <a:spcPts val="0"/>
              </a:spcAft>
            </a:pPr>
            <a:r>
              <a:rPr sz="2200" b="1">
                <a:solidFill>
                  <a:srgbClr val="FFFFFF"/>
                </a:solidFill>
                <a:latin typeface="Calibri"/>
              </a:rPr>
              <a:t>4</a:t>
            </a:r>
          </a:p>
        </p:txBody>
      </p:sp>
      <p:sp>
        <p:nvSpPr>
          <p:cNvPr id="21" name="TextBox 20"/>
          <p:cNvSpPr txBox="1"/>
          <p:nvPr/>
        </p:nvSpPr>
        <p:spPr>
          <a:xfrm>
            <a:off x="6163056" y="3474720"/>
            <a:ext cx="1828800" cy="411480"/>
          </a:xfrm>
          <a:prstGeom prst="rect">
            <a:avLst/>
          </a:prstGeom>
          <a:noFill/>
        </p:spPr>
        <p:txBody>
          <a:bodyPr wrap="square" lIns="0" tIns="0" rIns="0" bIns="0" anchor="t">
            <a:spAutoFit/>
          </a:bodyPr>
          <a:lstStyle/>
          <a:p>
            <a:pPr algn="ctr">
              <a:lnSpc>
                <a:spcPct val="115000"/>
              </a:lnSpc>
              <a:spcAft>
                <a:spcPts val="0"/>
              </a:spcAft>
            </a:pPr>
            <a:r>
              <a:rPr sz="1800" b="1">
                <a:solidFill>
                  <a:srgbClr val="14213D"/>
                </a:solidFill>
                <a:latin typeface="Calibri"/>
              </a:rPr>
              <a:t>Documents</a:t>
            </a:r>
          </a:p>
        </p:txBody>
      </p:sp>
      <p:sp>
        <p:nvSpPr>
          <p:cNvPr id="22" name="TextBox 21"/>
          <p:cNvSpPr txBox="1"/>
          <p:nvPr/>
        </p:nvSpPr>
        <p:spPr>
          <a:xfrm>
            <a:off x="6163056" y="3931920"/>
            <a:ext cx="1828800" cy="731520"/>
          </a:xfrm>
          <a:prstGeom prst="rect">
            <a:avLst/>
          </a:prstGeom>
          <a:noFill/>
        </p:spPr>
        <p:txBody>
          <a:bodyPr wrap="square" lIns="0" tIns="0" rIns="0" bIns="0" anchor="t">
            <a:spAutoFit/>
          </a:bodyPr>
          <a:lstStyle/>
          <a:p>
            <a:pPr algn="ctr">
              <a:lnSpc>
                <a:spcPct val="115000"/>
              </a:lnSpc>
              <a:spcAft>
                <a:spcPts val="0"/>
              </a:spcAft>
            </a:pPr>
            <a:r>
              <a:rPr sz="1400" b="0">
                <a:solidFill>
                  <a:srgbClr val="5B6573"/>
                </a:solidFill>
                <a:latin typeface="Calibri"/>
              </a:rPr>
              <a:t>procédures, rapport, modèles</a:t>
            </a:r>
          </a:p>
        </p:txBody>
      </p:sp>
      <p:sp>
        <p:nvSpPr>
          <p:cNvPr id="23" name="Oval 22"/>
          <p:cNvSpPr/>
          <p:nvPr/>
        </p:nvSpPr>
        <p:spPr>
          <a:xfrm>
            <a:off x="8567928" y="2331720"/>
            <a:ext cx="914400" cy="9144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567928" y="2331720"/>
            <a:ext cx="914400" cy="914400"/>
          </a:xfrm>
          <a:prstGeom prst="rect">
            <a:avLst/>
          </a:prstGeom>
          <a:noFill/>
        </p:spPr>
        <p:txBody>
          <a:bodyPr wrap="square" lIns="0" tIns="0" rIns="0" bIns="0" anchor="ctr">
            <a:spAutoFit/>
          </a:bodyPr>
          <a:lstStyle/>
          <a:p>
            <a:pPr algn="ctr">
              <a:lnSpc>
                <a:spcPct val="115000"/>
              </a:lnSpc>
              <a:spcAft>
                <a:spcPts val="0"/>
              </a:spcAft>
            </a:pPr>
            <a:r>
              <a:rPr sz="2200" b="1">
                <a:solidFill>
                  <a:srgbClr val="FFFFFF"/>
                </a:solidFill>
                <a:latin typeface="Calibri"/>
              </a:rPr>
              <a:t>5</a:t>
            </a:r>
          </a:p>
        </p:txBody>
      </p:sp>
      <p:sp>
        <p:nvSpPr>
          <p:cNvPr id="25" name="TextBox 24"/>
          <p:cNvSpPr txBox="1"/>
          <p:nvPr/>
        </p:nvSpPr>
        <p:spPr>
          <a:xfrm>
            <a:off x="8110727" y="3474720"/>
            <a:ext cx="1828800" cy="411480"/>
          </a:xfrm>
          <a:prstGeom prst="rect">
            <a:avLst/>
          </a:prstGeom>
          <a:noFill/>
        </p:spPr>
        <p:txBody>
          <a:bodyPr wrap="square" lIns="0" tIns="0" rIns="0" bIns="0" anchor="t">
            <a:spAutoFit/>
          </a:bodyPr>
          <a:lstStyle/>
          <a:p>
            <a:pPr algn="ctr">
              <a:lnSpc>
                <a:spcPct val="115000"/>
              </a:lnSpc>
              <a:spcAft>
                <a:spcPts val="0"/>
              </a:spcAft>
            </a:pPr>
            <a:r>
              <a:rPr sz="1800" b="1">
                <a:solidFill>
                  <a:srgbClr val="14213D"/>
                </a:solidFill>
                <a:latin typeface="Calibri"/>
              </a:rPr>
              <a:t>Insights</a:t>
            </a:r>
          </a:p>
        </p:txBody>
      </p:sp>
      <p:sp>
        <p:nvSpPr>
          <p:cNvPr id="26" name="TextBox 25"/>
          <p:cNvSpPr txBox="1"/>
          <p:nvPr/>
        </p:nvSpPr>
        <p:spPr>
          <a:xfrm>
            <a:off x="8110727" y="3931920"/>
            <a:ext cx="1828800" cy="731520"/>
          </a:xfrm>
          <a:prstGeom prst="rect">
            <a:avLst/>
          </a:prstGeom>
          <a:noFill/>
        </p:spPr>
        <p:txBody>
          <a:bodyPr wrap="square" lIns="0" tIns="0" rIns="0" bIns="0" anchor="t">
            <a:spAutoFit/>
          </a:bodyPr>
          <a:lstStyle/>
          <a:p>
            <a:pPr algn="ctr">
              <a:lnSpc>
                <a:spcPct val="115000"/>
              </a:lnSpc>
              <a:spcAft>
                <a:spcPts val="0"/>
              </a:spcAft>
            </a:pPr>
            <a:r>
              <a:rPr sz="1400" b="0">
                <a:solidFill>
                  <a:srgbClr val="5B6573"/>
                </a:solidFill>
                <a:latin typeface="Calibri"/>
              </a:rPr>
              <a:t>7 constats chiffrés</a:t>
            </a:r>
          </a:p>
        </p:txBody>
      </p:sp>
      <p:sp>
        <p:nvSpPr>
          <p:cNvPr id="27" name="Oval 26"/>
          <p:cNvSpPr/>
          <p:nvPr/>
        </p:nvSpPr>
        <p:spPr>
          <a:xfrm>
            <a:off x="10515599" y="2331720"/>
            <a:ext cx="914400" cy="9144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515599" y="2331720"/>
            <a:ext cx="914400" cy="914400"/>
          </a:xfrm>
          <a:prstGeom prst="rect">
            <a:avLst/>
          </a:prstGeom>
          <a:noFill/>
        </p:spPr>
        <p:txBody>
          <a:bodyPr wrap="square" lIns="0" tIns="0" rIns="0" bIns="0" anchor="ctr">
            <a:spAutoFit/>
          </a:bodyPr>
          <a:lstStyle/>
          <a:p>
            <a:pPr algn="ctr">
              <a:lnSpc>
                <a:spcPct val="115000"/>
              </a:lnSpc>
              <a:spcAft>
                <a:spcPts val="0"/>
              </a:spcAft>
            </a:pPr>
            <a:r>
              <a:rPr sz="2200" b="1">
                <a:solidFill>
                  <a:srgbClr val="FFFFFF"/>
                </a:solidFill>
                <a:latin typeface="Calibri"/>
              </a:rPr>
              <a:t>6</a:t>
            </a:r>
          </a:p>
        </p:txBody>
      </p:sp>
      <p:sp>
        <p:nvSpPr>
          <p:cNvPr id="29" name="TextBox 28"/>
          <p:cNvSpPr txBox="1"/>
          <p:nvPr/>
        </p:nvSpPr>
        <p:spPr>
          <a:xfrm>
            <a:off x="10058399" y="3474720"/>
            <a:ext cx="1828800" cy="411480"/>
          </a:xfrm>
          <a:prstGeom prst="rect">
            <a:avLst/>
          </a:prstGeom>
          <a:noFill/>
        </p:spPr>
        <p:txBody>
          <a:bodyPr wrap="square" lIns="0" tIns="0" rIns="0" bIns="0" anchor="t">
            <a:spAutoFit/>
          </a:bodyPr>
          <a:lstStyle/>
          <a:p>
            <a:pPr algn="ctr">
              <a:lnSpc>
                <a:spcPct val="115000"/>
              </a:lnSpc>
              <a:spcAft>
                <a:spcPts val="0"/>
              </a:spcAft>
            </a:pPr>
            <a:r>
              <a:rPr sz="1800" b="1">
                <a:solidFill>
                  <a:srgbClr val="14213D"/>
                </a:solidFill>
                <a:latin typeface="Calibri"/>
              </a:rPr>
              <a:t>Tests</a:t>
            </a:r>
          </a:p>
        </p:txBody>
      </p:sp>
      <p:sp>
        <p:nvSpPr>
          <p:cNvPr id="30" name="TextBox 29"/>
          <p:cNvSpPr txBox="1"/>
          <p:nvPr/>
        </p:nvSpPr>
        <p:spPr>
          <a:xfrm>
            <a:off x="10058399" y="3931920"/>
            <a:ext cx="1828800" cy="731520"/>
          </a:xfrm>
          <a:prstGeom prst="rect">
            <a:avLst/>
          </a:prstGeom>
          <a:noFill/>
        </p:spPr>
        <p:txBody>
          <a:bodyPr wrap="square" lIns="0" tIns="0" rIns="0" bIns="0" anchor="t">
            <a:spAutoFit/>
          </a:bodyPr>
          <a:lstStyle/>
          <a:p>
            <a:pPr algn="ctr">
              <a:lnSpc>
                <a:spcPct val="115000"/>
              </a:lnSpc>
              <a:spcAft>
                <a:spcPts val="0"/>
              </a:spcAft>
            </a:pPr>
            <a:r>
              <a:rPr sz="1400" b="0">
                <a:solidFill>
                  <a:srgbClr val="5B6573"/>
                </a:solidFill>
                <a:latin typeface="Calibri"/>
              </a:rPr>
              <a:t>76 tests automatisés</a:t>
            </a:r>
          </a:p>
        </p:txBody>
      </p:sp>
      <p:sp>
        <p:nvSpPr>
          <p:cNvPr id="31" name="Rounded Rectangle 30"/>
          <p:cNvSpPr/>
          <p:nvPr/>
        </p:nvSpPr>
        <p:spPr>
          <a:xfrm>
            <a:off x="548640" y="4983480"/>
            <a:ext cx="11091672" cy="960120"/>
          </a:xfrm>
          <a:prstGeom prst="roundRect">
            <a:avLst>
              <a:gd name="adj" fmla="val 8000"/>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14400" y="4983480"/>
            <a:ext cx="10424160" cy="960120"/>
          </a:xfrm>
          <a:prstGeom prst="rect">
            <a:avLst/>
          </a:prstGeom>
          <a:noFill/>
        </p:spPr>
        <p:txBody>
          <a:bodyPr wrap="square" lIns="0" tIns="0" rIns="0" bIns="0" anchor="ctr">
            <a:spAutoFit/>
          </a:bodyPr>
          <a:lstStyle/>
          <a:p>
            <a:pPr algn="l">
              <a:lnSpc>
                <a:spcPct val="115000"/>
              </a:lnSpc>
              <a:spcAft>
                <a:spcPts val="0"/>
              </a:spcAft>
            </a:pPr>
            <a:r>
              <a:rPr sz="1600" b="0">
                <a:solidFill>
                  <a:srgbClr val="14213D"/>
                </a:solidFill>
                <a:latin typeface="Calibri"/>
              </a:rPr>
              <a:t>Chaque chiffre affiché est recalculé depuis les fichiers sources : aucune valeur n'est saisie à la main dans les outils ni dans ce support.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6400800"/>
            <a:ext cx="8229600" cy="274320"/>
          </a:xfrm>
          <a:prstGeom prst="rect">
            <a:avLst/>
          </a:prstGeom>
          <a:noFill/>
        </p:spPr>
        <p:txBody>
          <a:bodyPr wrap="square" lIns="0" tIns="0" rIns="0" bIns="0" anchor="t">
            <a:spAutoFit/>
          </a:bodyPr>
          <a:lstStyle/>
          <a:p>
            <a:pPr algn="l">
              <a:lnSpc>
                <a:spcPct val="115000"/>
              </a:lnSpc>
              <a:spcAft>
                <a:spcPts val="0"/>
              </a:spcAft>
            </a:pPr>
            <a:r>
              <a:rPr sz="1000" b="0">
                <a:solidFill>
                  <a:srgbClr val="5B6573"/>
                </a:solidFill>
                <a:latin typeface="Calibri"/>
              </a:rPr>
              <a:t>Données fictives · projet personnel indépendant de Nuru</a:t>
            </a:r>
          </a:p>
        </p:txBody>
      </p:sp>
      <p:sp>
        <p:nvSpPr>
          <p:cNvPr id="3" name="TextBox 2"/>
          <p:cNvSpPr txBox="1"/>
          <p:nvPr/>
        </p:nvSpPr>
        <p:spPr>
          <a:xfrm>
            <a:off x="10728655" y="6400800"/>
            <a:ext cx="914400" cy="274320"/>
          </a:xfrm>
          <a:prstGeom prst="rect">
            <a:avLst/>
          </a:prstGeom>
          <a:noFill/>
        </p:spPr>
        <p:txBody>
          <a:bodyPr wrap="square" lIns="0" tIns="0" rIns="0" bIns="0" anchor="t">
            <a:spAutoFit/>
          </a:bodyPr>
          <a:lstStyle/>
          <a:p>
            <a:pPr algn="r">
              <a:lnSpc>
                <a:spcPct val="115000"/>
              </a:lnSpc>
              <a:spcAft>
                <a:spcPts val="0"/>
              </a:spcAft>
            </a:pPr>
            <a:r>
              <a:rPr sz="1000" b="0">
                <a:solidFill>
                  <a:srgbClr val="5B6573"/>
                </a:solidFill>
                <a:latin typeface="Calibri"/>
              </a:rPr>
              <a:t>6</a:t>
            </a:r>
          </a:p>
        </p:txBody>
      </p:sp>
      <p:sp>
        <p:nvSpPr>
          <p:cNvPr id="4" name="TextBox 3"/>
          <p:cNvSpPr txBox="1"/>
          <p:nvPr/>
        </p:nvSpPr>
        <p:spPr>
          <a:xfrm>
            <a:off x="548640" y="411480"/>
            <a:ext cx="11094415" cy="685800"/>
          </a:xfrm>
          <a:prstGeom prst="rect">
            <a:avLst/>
          </a:prstGeom>
          <a:noFill/>
        </p:spPr>
        <p:txBody>
          <a:bodyPr wrap="square" lIns="0" tIns="0" rIns="0" bIns="0" anchor="ctr">
            <a:spAutoFit/>
          </a:bodyPr>
          <a:lstStyle/>
          <a:p>
            <a:pPr algn="l">
              <a:lnSpc>
                <a:spcPct val="115000"/>
              </a:lnSpc>
              <a:spcAft>
                <a:spcPts val="0"/>
              </a:spcAft>
            </a:pPr>
            <a:r>
              <a:rPr sz="3400" b="1">
                <a:solidFill>
                  <a:srgbClr val="14213D"/>
                </a:solidFill>
                <a:latin typeface="Calibri"/>
              </a:rPr>
              <a:t>Suivi administratif : anticiper les échéances</a:t>
            </a:r>
          </a:p>
        </p:txBody>
      </p:sp>
      <p:sp>
        <p:nvSpPr>
          <p:cNvPr id="5" name="TextBox 4"/>
          <p:cNvSpPr txBox="1"/>
          <p:nvPr/>
        </p:nvSpPr>
        <p:spPr>
          <a:xfrm>
            <a:off x="548640" y="1097280"/>
            <a:ext cx="11094415" cy="411480"/>
          </a:xfrm>
          <a:prstGeom prst="rect">
            <a:avLst/>
          </a:prstGeom>
          <a:noFill/>
        </p:spPr>
        <p:txBody>
          <a:bodyPr wrap="square" lIns="0" tIns="0" rIns="0" bIns="0" anchor="t">
            <a:spAutoFit/>
          </a:bodyPr>
          <a:lstStyle/>
          <a:p>
            <a:pPr algn="l">
              <a:lnSpc>
                <a:spcPct val="115000"/>
              </a:lnSpc>
              <a:spcAft>
                <a:spcPts val="0"/>
              </a:spcAft>
            </a:pPr>
            <a:r>
              <a:rPr sz="1600" b="0">
                <a:solidFill>
                  <a:srgbClr val="5B6573"/>
                </a:solidFill>
                <a:latin typeface="Calibri"/>
              </a:rPr>
              <a:t>Registre, contrats, absences, stagiaires et effectifs sur une seule page</a:t>
            </a:r>
          </a:p>
        </p:txBody>
      </p:sp>
      <p:pic>
        <p:nvPicPr>
          <p:cNvPr id="6" name="Picture 5" descr="module_rh_echeances.png"/>
          <p:cNvPicPr>
            <a:picLocks noChangeAspect="1"/>
          </p:cNvPicPr>
          <p:nvPr/>
        </p:nvPicPr>
        <p:blipFill>
          <a:blip r:embed="rId3"/>
          <a:srcRect/>
          <a:stretch>
            <a:fillRect/>
          </a:stretch>
        </p:blipFill>
        <p:spPr>
          <a:xfrm>
            <a:off x="548640" y="1783080"/>
            <a:ext cx="6766560" cy="3764703"/>
          </a:xfrm>
          <a:prstGeom prst="rect">
            <a:avLst/>
          </a:prstGeom>
          <a:ln w="12700">
            <a:solidFill>
              <a:srgbClr val="D9DEE6"/>
            </a:solidFill>
          </a:ln>
        </p:spPr>
      </p:pic>
      <p:sp>
        <p:nvSpPr>
          <p:cNvPr id="7" name="TextBox 6"/>
          <p:cNvSpPr txBox="1"/>
          <p:nvPr/>
        </p:nvSpPr>
        <p:spPr>
          <a:xfrm>
            <a:off x="7726679" y="1783080"/>
            <a:ext cx="1463040" cy="822960"/>
          </a:xfrm>
          <a:prstGeom prst="rect">
            <a:avLst/>
          </a:prstGeom>
          <a:noFill/>
        </p:spPr>
        <p:txBody>
          <a:bodyPr wrap="square" lIns="0" tIns="0" rIns="0" bIns="0" anchor="ctr">
            <a:spAutoFit/>
          </a:bodyPr>
          <a:lstStyle/>
          <a:p>
            <a:pPr algn="l">
              <a:lnSpc>
                <a:spcPct val="115000"/>
              </a:lnSpc>
              <a:spcAft>
                <a:spcPts val="0"/>
              </a:spcAft>
            </a:pPr>
            <a:r>
              <a:rPr sz="3600" b="1">
                <a:solidFill>
                  <a:srgbClr val="EB6834"/>
                </a:solidFill>
                <a:latin typeface="Calibri"/>
              </a:rPr>
              <a:t>3</a:t>
            </a:r>
          </a:p>
        </p:txBody>
      </p:sp>
      <p:sp>
        <p:nvSpPr>
          <p:cNvPr id="8" name="TextBox 7"/>
          <p:cNvSpPr txBox="1"/>
          <p:nvPr/>
        </p:nvSpPr>
        <p:spPr>
          <a:xfrm>
            <a:off x="9235440" y="1783080"/>
            <a:ext cx="2423160" cy="822960"/>
          </a:xfrm>
          <a:prstGeom prst="rect">
            <a:avLst/>
          </a:prstGeom>
          <a:noFill/>
        </p:spPr>
        <p:txBody>
          <a:bodyPr wrap="square" lIns="0" tIns="0" rIns="0" bIns="0" anchor="ctr">
            <a:spAutoFit/>
          </a:bodyPr>
          <a:lstStyle/>
          <a:p>
            <a:pPr algn="l">
              <a:lnSpc>
                <a:spcPct val="115000"/>
              </a:lnSpc>
              <a:spcAft>
                <a:spcPts val="0"/>
              </a:spcAft>
            </a:pPr>
            <a:r>
              <a:rPr sz="1500" b="0">
                <a:solidFill>
                  <a:srgbClr val="1F2933"/>
                </a:solidFill>
                <a:latin typeface="Calibri"/>
              </a:rPr>
              <a:t>CDD à 30 jours ou moins</a:t>
            </a:r>
          </a:p>
        </p:txBody>
      </p:sp>
      <p:sp>
        <p:nvSpPr>
          <p:cNvPr id="9" name="TextBox 8"/>
          <p:cNvSpPr txBox="1"/>
          <p:nvPr/>
        </p:nvSpPr>
        <p:spPr>
          <a:xfrm>
            <a:off x="7726679" y="2788920"/>
            <a:ext cx="1463040" cy="822960"/>
          </a:xfrm>
          <a:prstGeom prst="rect">
            <a:avLst/>
          </a:prstGeom>
          <a:noFill/>
        </p:spPr>
        <p:txBody>
          <a:bodyPr wrap="square" lIns="0" tIns="0" rIns="0" bIns="0" anchor="ctr">
            <a:spAutoFit/>
          </a:bodyPr>
          <a:lstStyle/>
          <a:p>
            <a:pPr algn="l">
              <a:lnSpc>
                <a:spcPct val="115000"/>
              </a:lnSpc>
              <a:spcAft>
                <a:spcPts val="0"/>
              </a:spcAft>
            </a:pPr>
            <a:r>
              <a:rPr sz="3600" b="1">
                <a:solidFill>
                  <a:srgbClr val="EB6834"/>
                </a:solidFill>
                <a:latin typeface="Calibri"/>
              </a:rPr>
              <a:t>26 %</a:t>
            </a:r>
          </a:p>
        </p:txBody>
      </p:sp>
      <p:sp>
        <p:nvSpPr>
          <p:cNvPr id="10" name="TextBox 9"/>
          <p:cNvSpPr txBox="1"/>
          <p:nvPr/>
        </p:nvSpPr>
        <p:spPr>
          <a:xfrm>
            <a:off x="9235440" y="2788920"/>
            <a:ext cx="2423160" cy="822960"/>
          </a:xfrm>
          <a:prstGeom prst="rect">
            <a:avLst/>
          </a:prstGeom>
          <a:noFill/>
        </p:spPr>
        <p:txBody>
          <a:bodyPr wrap="square" lIns="0" tIns="0" rIns="0" bIns="0" anchor="ctr">
            <a:spAutoFit/>
          </a:bodyPr>
          <a:lstStyle/>
          <a:p>
            <a:pPr algn="l">
              <a:lnSpc>
                <a:spcPct val="115000"/>
              </a:lnSpc>
              <a:spcAft>
                <a:spcPts val="0"/>
              </a:spcAft>
            </a:pPr>
            <a:r>
              <a:rPr sz="1500" b="0">
                <a:solidFill>
                  <a:srgbClr val="1F2933"/>
                </a:solidFill>
                <a:latin typeface="Calibri"/>
              </a:rPr>
              <a:t>de l'effectif en CDD</a:t>
            </a:r>
          </a:p>
        </p:txBody>
      </p:sp>
      <p:sp>
        <p:nvSpPr>
          <p:cNvPr id="11" name="TextBox 10"/>
          <p:cNvSpPr txBox="1"/>
          <p:nvPr/>
        </p:nvSpPr>
        <p:spPr>
          <a:xfrm>
            <a:off x="7726679" y="3794760"/>
            <a:ext cx="1463040" cy="822960"/>
          </a:xfrm>
          <a:prstGeom prst="rect">
            <a:avLst/>
          </a:prstGeom>
          <a:noFill/>
        </p:spPr>
        <p:txBody>
          <a:bodyPr wrap="square" lIns="0" tIns="0" rIns="0" bIns="0" anchor="ctr">
            <a:spAutoFit/>
          </a:bodyPr>
          <a:lstStyle/>
          <a:p>
            <a:pPr algn="l">
              <a:lnSpc>
                <a:spcPct val="115000"/>
              </a:lnSpc>
              <a:spcAft>
                <a:spcPts val="0"/>
              </a:spcAft>
            </a:pPr>
            <a:r>
              <a:rPr sz="3600" b="1">
                <a:solidFill>
                  <a:srgbClr val="EB6834"/>
                </a:solidFill>
                <a:latin typeface="Calibri"/>
              </a:rPr>
              <a:t>3</a:t>
            </a:r>
          </a:p>
        </p:txBody>
      </p:sp>
      <p:sp>
        <p:nvSpPr>
          <p:cNvPr id="12" name="TextBox 11"/>
          <p:cNvSpPr txBox="1"/>
          <p:nvPr/>
        </p:nvSpPr>
        <p:spPr>
          <a:xfrm>
            <a:off x="9235440" y="3794760"/>
            <a:ext cx="2423160" cy="822960"/>
          </a:xfrm>
          <a:prstGeom prst="rect">
            <a:avLst/>
          </a:prstGeom>
          <a:noFill/>
        </p:spPr>
        <p:txBody>
          <a:bodyPr wrap="square" lIns="0" tIns="0" rIns="0" bIns="0" anchor="ctr">
            <a:spAutoFit/>
          </a:bodyPr>
          <a:lstStyle/>
          <a:p>
            <a:pPr algn="l">
              <a:lnSpc>
                <a:spcPct val="115000"/>
              </a:lnSpc>
              <a:spcAft>
                <a:spcPts val="0"/>
              </a:spcAft>
            </a:pPr>
            <a:r>
              <a:rPr sz="1500" b="0">
                <a:solidFill>
                  <a:srgbClr val="1F2933"/>
                </a:solidFill>
                <a:latin typeface="Calibri"/>
              </a:rPr>
              <a:t>stagiaires en cours ou à venir</a:t>
            </a:r>
          </a:p>
        </p:txBody>
      </p:sp>
      <p:sp>
        <p:nvSpPr>
          <p:cNvPr id="13" name="Rounded Rectangle 12"/>
          <p:cNvSpPr/>
          <p:nvPr/>
        </p:nvSpPr>
        <p:spPr>
          <a:xfrm>
            <a:off x="7726679" y="4892040"/>
            <a:ext cx="3913632" cy="777240"/>
          </a:xfrm>
          <a:prstGeom prst="roundRect">
            <a:avLst>
              <a:gd name="adj" fmla="val 8000"/>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5279" y="4892040"/>
            <a:ext cx="3520440" cy="777240"/>
          </a:xfrm>
          <a:prstGeom prst="rect">
            <a:avLst/>
          </a:prstGeom>
          <a:noFill/>
        </p:spPr>
        <p:txBody>
          <a:bodyPr wrap="square" lIns="0" tIns="0" rIns="0" bIns="0" anchor="ctr">
            <a:spAutoFit/>
          </a:bodyPr>
          <a:lstStyle/>
          <a:p>
            <a:pPr algn="l">
              <a:lnSpc>
                <a:spcPct val="115000"/>
              </a:lnSpc>
              <a:spcAft>
                <a:spcPts val="0"/>
              </a:spcAft>
            </a:pPr>
            <a:r>
              <a:rPr sz="1500" b="1">
                <a:solidFill>
                  <a:srgbClr val="14213D"/>
                </a:solidFill>
                <a:latin typeface="Calibri"/>
              </a:rPr>
              <a:t>L'outil alerte, le responsable RH décide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6400800"/>
            <a:ext cx="8229600" cy="274320"/>
          </a:xfrm>
          <a:prstGeom prst="rect">
            <a:avLst/>
          </a:prstGeom>
          <a:noFill/>
        </p:spPr>
        <p:txBody>
          <a:bodyPr wrap="square" lIns="0" tIns="0" rIns="0" bIns="0" anchor="t">
            <a:spAutoFit/>
          </a:bodyPr>
          <a:lstStyle/>
          <a:p>
            <a:pPr algn="l">
              <a:lnSpc>
                <a:spcPct val="115000"/>
              </a:lnSpc>
              <a:spcAft>
                <a:spcPts val="0"/>
              </a:spcAft>
            </a:pPr>
            <a:r>
              <a:rPr sz="1000" b="0">
                <a:solidFill>
                  <a:srgbClr val="5B6573"/>
                </a:solidFill>
                <a:latin typeface="Calibri"/>
              </a:rPr>
              <a:t>Données fictives · projet personnel indépendant de Nuru</a:t>
            </a:r>
          </a:p>
        </p:txBody>
      </p:sp>
      <p:sp>
        <p:nvSpPr>
          <p:cNvPr id="3" name="TextBox 2"/>
          <p:cNvSpPr txBox="1"/>
          <p:nvPr/>
        </p:nvSpPr>
        <p:spPr>
          <a:xfrm>
            <a:off x="10728655" y="6400800"/>
            <a:ext cx="914400" cy="274320"/>
          </a:xfrm>
          <a:prstGeom prst="rect">
            <a:avLst/>
          </a:prstGeom>
          <a:noFill/>
        </p:spPr>
        <p:txBody>
          <a:bodyPr wrap="square" lIns="0" tIns="0" rIns="0" bIns="0" anchor="t">
            <a:spAutoFit/>
          </a:bodyPr>
          <a:lstStyle/>
          <a:p>
            <a:pPr algn="r">
              <a:lnSpc>
                <a:spcPct val="115000"/>
              </a:lnSpc>
              <a:spcAft>
                <a:spcPts val="0"/>
              </a:spcAft>
            </a:pPr>
            <a:r>
              <a:rPr sz="1000" b="0">
                <a:solidFill>
                  <a:srgbClr val="5B6573"/>
                </a:solidFill>
                <a:latin typeface="Calibri"/>
              </a:rPr>
              <a:t>7</a:t>
            </a:r>
          </a:p>
        </p:txBody>
      </p:sp>
      <p:sp>
        <p:nvSpPr>
          <p:cNvPr id="4" name="TextBox 3"/>
          <p:cNvSpPr txBox="1"/>
          <p:nvPr/>
        </p:nvSpPr>
        <p:spPr>
          <a:xfrm>
            <a:off x="548640" y="411480"/>
            <a:ext cx="11094415" cy="685800"/>
          </a:xfrm>
          <a:prstGeom prst="rect">
            <a:avLst/>
          </a:prstGeom>
          <a:noFill/>
        </p:spPr>
        <p:txBody>
          <a:bodyPr wrap="square" lIns="0" tIns="0" rIns="0" bIns="0" anchor="ctr">
            <a:spAutoFit/>
          </a:bodyPr>
          <a:lstStyle/>
          <a:p>
            <a:pPr algn="l">
              <a:lnSpc>
                <a:spcPct val="115000"/>
              </a:lnSpc>
              <a:spcAft>
                <a:spcPts val="0"/>
              </a:spcAft>
            </a:pPr>
            <a:r>
              <a:rPr sz="3400" b="1">
                <a:solidFill>
                  <a:srgbClr val="14213D"/>
                </a:solidFill>
                <a:latin typeface="Calibri"/>
              </a:rPr>
              <a:t>Recrutement : 8 étapes, des décisions humaines</a:t>
            </a:r>
          </a:p>
        </p:txBody>
      </p:sp>
      <p:sp>
        <p:nvSpPr>
          <p:cNvPr id="5" name="TextBox 4"/>
          <p:cNvSpPr txBox="1"/>
          <p:nvPr/>
        </p:nvSpPr>
        <p:spPr>
          <a:xfrm>
            <a:off x="548640" y="1097280"/>
            <a:ext cx="11094415" cy="411480"/>
          </a:xfrm>
          <a:prstGeom prst="rect">
            <a:avLst/>
          </a:prstGeom>
          <a:noFill/>
        </p:spPr>
        <p:txBody>
          <a:bodyPr wrap="square" lIns="0" tIns="0" rIns="0" bIns="0" anchor="t">
            <a:spAutoFit/>
          </a:bodyPr>
          <a:lstStyle/>
          <a:p>
            <a:pPr algn="l">
              <a:lnSpc>
                <a:spcPct val="115000"/>
              </a:lnSpc>
              <a:spcAft>
                <a:spcPts val="0"/>
              </a:spcAft>
            </a:pPr>
            <a:r>
              <a:rPr sz="1600" b="0">
                <a:solidFill>
                  <a:srgbClr val="5B6573"/>
                </a:solidFill>
                <a:latin typeface="Calibri"/>
              </a:rPr>
              <a:t>Pour chaque candidature : statut, prochaine action, responsable, échéance</a:t>
            </a:r>
          </a:p>
        </p:txBody>
      </p:sp>
      <p:cxnSp>
        <p:nvCxnSpPr>
          <p:cNvPr id="6" name="Connector 5"/>
          <p:cNvCxnSpPr/>
          <p:nvPr/>
        </p:nvCxnSpPr>
        <p:spPr>
          <a:xfrm>
            <a:off x="1005840" y="2331720"/>
            <a:ext cx="10149840" cy="0"/>
          </a:xfrm>
          <a:prstGeom prst="line">
            <a:avLst/>
          </a:prstGeom>
          <a:ln w="38100">
            <a:solidFill>
              <a:srgbClr val="D9DEE6"/>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685800" y="2011680"/>
            <a:ext cx="640080" cy="64008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011680"/>
            <a:ext cx="640080" cy="640080"/>
          </a:xfrm>
          <a:prstGeom prst="rect">
            <a:avLst/>
          </a:prstGeom>
          <a:noFill/>
        </p:spPr>
        <p:txBody>
          <a:bodyPr wrap="square" lIns="0" tIns="0" rIns="0" bIns="0" anchor="ctr">
            <a:spAutoFit/>
          </a:bodyPr>
          <a:lstStyle/>
          <a:p>
            <a:pPr algn="ctr">
              <a:lnSpc>
                <a:spcPct val="115000"/>
              </a:lnSpc>
              <a:spcAft>
                <a:spcPts val="0"/>
              </a:spcAft>
            </a:pPr>
            <a:r>
              <a:rPr sz="1600" b="1">
                <a:solidFill>
                  <a:srgbClr val="FFFFFF"/>
                </a:solidFill>
                <a:latin typeface="Calibri"/>
              </a:rPr>
              <a:t>1</a:t>
            </a:r>
          </a:p>
        </p:txBody>
      </p:sp>
      <p:sp>
        <p:nvSpPr>
          <p:cNvPr id="9" name="TextBox 8"/>
          <p:cNvSpPr txBox="1"/>
          <p:nvPr/>
        </p:nvSpPr>
        <p:spPr>
          <a:xfrm>
            <a:off x="292608" y="2788920"/>
            <a:ext cx="1426464" cy="640080"/>
          </a:xfrm>
          <a:prstGeom prst="rect">
            <a:avLst/>
          </a:prstGeom>
          <a:noFill/>
        </p:spPr>
        <p:txBody>
          <a:bodyPr wrap="square" lIns="0" tIns="0" rIns="0" bIns="0" anchor="t">
            <a:spAutoFit/>
          </a:bodyPr>
          <a:lstStyle/>
          <a:p>
            <a:pPr algn="ctr">
              <a:lnSpc>
                <a:spcPct val="115000"/>
              </a:lnSpc>
              <a:spcAft>
                <a:spcPts val="0"/>
              </a:spcAft>
            </a:pPr>
            <a:r>
              <a:rPr sz="1300" b="0">
                <a:solidFill>
                  <a:srgbClr val="1F2933"/>
                </a:solidFill>
                <a:latin typeface="Calibri"/>
              </a:rPr>
              <a:t>Candidature reçue</a:t>
            </a:r>
          </a:p>
        </p:txBody>
      </p:sp>
      <p:sp>
        <p:nvSpPr>
          <p:cNvPr id="10" name="Oval 9"/>
          <p:cNvSpPr/>
          <p:nvPr/>
        </p:nvSpPr>
        <p:spPr>
          <a:xfrm>
            <a:off x="2135124" y="2011680"/>
            <a:ext cx="640080" cy="64008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35124" y="2011680"/>
            <a:ext cx="640080" cy="640080"/>
          </a:xfrm>
          <a:prstGeom prst="rect">
            <a:avLst/>
          </a:prstGeom>
          <a:noFill/>
        </p:spPr>
        <p:txBody>
          <a:bodyPr wrap="square" lIns="0" tIns="0" rIns="0" bIns="0" anchor="ctr">
            <a:spAutoFit/>
          </a:bodyPr>
          <a:lstStyle/>
          <a:p>
            <a:pPr algn="ctr">
              <a:lnSpc>
                <a:spcPct val="115000"/>
              </a:lnSpc>
              <a:spcAft>
                <a:spcPts val="0"/>
              </a:spcAft>
            </a:pPr>
            <a:r>
              <a:rPr sz="1600" b="1">
                <a:solidFill>
                  <a:srgbClr val="FFFFFF"/>
                </a:solidFill>
                <a:latin typeface="Calibri"/>
              </a:rPr>
              <a:t>2</a:t>
            </a:r>
          </a:p>
        </p:txBody>
      </p:sp>
      <p:sp>
        <p:nvSpPr>
          <p:cNvPr id="12" name="TextBox 11"/>
          <p:cNvSpPr txBox="1"/>
          <p:nvPr/>
        </p:nvSpPr>
        <p:spPr>
          <a:xfrm>
            <a:off x="1741932" y="2788920"/>
            <a:ext cx="1426464" cy="640080"/>
          </a:xfrm>
          <a:prstGeom prst="rect">
            <a:avLst/>
          </a:prstGeom>
          <a:noFill/>
        </p:spPr>
        <p:txBody>
          <a:bodyPr wrap="square" lIns="0" tIns="0" rIns="0" bIns="0" anchor="t">
            <a:spAutoFit/>
          </a:bodyPr>
          <a:lstStyle/>
          <a:p>
            <a:pPr algn="ctr">
              <a:lnSpc>
                <a:spcPct val="115000"/>
              </a:lnSpc>
              <a:spcAft>
                <a:spcPts val="0"/>
              </a:spcAft>
            </a:pPr>
            <a:r>
              <a:rPr sz="1300" b="0">
                <a:solidFill>
                  <a:srgbClr val="1F2933"/>
                </a:solidFill>
                <a:latin typeface="Calibri"/>
              </a:rPr>
              <a:t>Présélection</a:t>
            </a:r>
          </a:p>
        </p:txBody>
      </p:sp>
      <p:sp>
        <p:nvSpPr>
          <p:cNvPr id="13" name="Oval 12"/>
          <p:cNvSpPr/>
          <p:nvPr/>
        </p:nvSpPr>
        <p:spPr>
          <a:xfrm>
            <a:off x="3584447" y="2011680"/>
            <a:ext cx="640080" cy="64008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84447" y="2011680"/>
            <a:ext cx="640080" cy="640080"/>
          </a:xfrm>
          <a:prstGeom prst="rect">
            <a:avLst/>
          </a:prstGeom>
          <a:noFill/>
        </p:spPr>
        <p:txBody>
          <a:bodyPr wrap="square" lIns="0" tIns="0" rIns="0" bIns="0" anchor="ctr">
            <a:spAutoFit/>
          </a:bodyPr>
          <a:lstStyle/>
          <a:p>
            <a:pPr algn="ctr">
              <a:lnSpc>
                <a:spcPct val="115000"/>
              </a:lnSpc>
              <a:spcAft>
                <a:spcPts val="0"/>
              </a:spcAft>
            </a:pPr>
            <a:r>
              <a:rPr sz="1600" b="1">
                <a:solidFill>
                  <a:srgbClr val="FFFFFF"/>
                </a:solidFill>
                <a:latin typeface="Calibri"/>
              </a:rPr>
              <a:t>3</a:t>
            </a:r>
          </a:p>
        </p:txBody>
      </p:sp>
      <p:sp>
        <p:nvSpPr>
          <p:cNvPr id="15" name="TextBox 14"/>
          <p:cNvSpPr txBox="1"/>
          <p:nvPr/>
        </p:nvSpPr>
        <p:spPr>
          <a:xfrm>
            <a:off x="3191255" y="2788920"/>
            <a:ext cx="1426464" cy="640080"/>
          </a:xfrm>
          <a:prstGeom prst="rect">
            <a:avLst/>
          </a:prstGeom>
          <a:noFill/>
        </p:spPr>
        <p:txBody>
          <a:bodyPr wrap="square" lIns="0" tIns="0" rIns="0" bIns="0" anchor="t">
            <a:spAutoFit/>
          </a:bodyPr>
          <a:lstStyle/>
          <a:p>
            <a:pPr algn="ctr">
              <a:lnSpc>
                <a:spcPct val="115000"/>
              </a:lnSpc>
              <a:spcAft>
                <a:spcPts val="0"/>
              </a:spcAft>
            </a:pPr>
            <a:r>
              <a:rPr sz="1300" b="0">
                <a:solidFill>
                  <a:srgbClr val="1F2933"/>
                </a:solidFill>
                <a:latin typeface="Calibri"/>
              </a:rPr>
              <a:t>Convocation au test</a:t>
            </a:r>
          </a:p>
        </p:txBody>
      </p:sp>
      <p:sp>
        <p:nvSpPr>
          <p:cNvPr id="16" name="Oval 15"/>
          <p:cNvSpPr/>
          <p:nvPr/>
        </p:nvSpPr>
        <p:spPr>
          <a:xfrm>
            <a:off x="5033772" y="2011680"/>
            <a:ext cx="640080" cy="64008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33772" y="2011680"/>
            <a:ext cx="640080" cy="640080"/>
          </a:xfrm>
          <a:prstGeom prst="rect">
            <a:avLst/>
          </a:prstGeom>
          <a:noFill/>
        </p:spPr>
        <p:txBody>
          <a:bodyPr wrap="square" lIns="0" tIns="0" rIns="0" bIns="0" anchor="ctr">
            <a:spAutoFit/>
          </a:bodyPr>
          <a:lstStyle/>
          <a:p>
            <a:pPr algn="ctr">
              <a:lnSpc>
                <a:spcPct val="115000"/>
              </a:lnSpc>
              <a:spcAft>
                <a:spcPts val="0"/>
              </a:spcAft>
            </a:pPr>
            <a:r>
              <a:rPr sz="1600" b="1">
                <a:solidFill>
                  <a:srgbClr val="FFFFFF"/>
                </a:solidFill>
                <a:latin typeface="Calibri"/>
              </a:rPr>
              <a:t>4</a:t>
            </a:r>
          </a:p>
        </p:txBody>
      </p:sp>
      <p:sp>
        <p:nvSpPr>
          <p:cNvPr id="18" name="TextBox 17"/>
          <p:cNvSpPr txBox="1"/>
          <p:nvPr/>
        </p:nvSpPr>
        <p:spPr>
          <a:xfrm>
            <a:off x="4640580" y="2788920"/>
            <a:ext cx="1426464" cy="640080"/>
          </a:xfrm>
          <a:prstGeom prst="rect">
            <a:avLst/>
          </a:prstGeom>
          <a:noFill/>
        </p:spPr>
        <p:txBody>
          <a:bodyPr wrap="square" lIns="0" tIns="0" rIns="0" bIns="0" anchor="t">
            <a:spAutoFit/>
          </a:bodyPr>
          <a:lstStyle/>
          <a:p>
            <a:pPr algn="ctr">
              <a:lnSpc>
                <a:spcPct val="115000"/>
              </a:lnSpc>
              <a:spcAft>
                <a:spcPts val="0"/>
              </a:spcAft>
            </a:pPr>
            <a:r>
              <a:rPr sz="1300" b="0">
                <a:solidFill>
                  <a:srgbClr val="1F2933"/>
                </a:solidFill>
                <a:latin typeface="Calibri"/>
              </a:rPr>
              <a:t>Test réalisé</a:t>
            </a:r>
          </a:p>
        </p:txBody>
      </p:sp>
      <p:sp>
        <p:nvSpPr>
          <p:cNvPr id="19" name="Oval 18"/>
          <p:cNvSpPr/>
          <p:nvPr/>
        </p:nvSpPr>
        <p:spPr>
          <a:xfrm>
            <a:off x="6483096" y="2011680"/>
            <a:ext cx="640080" cy="64008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83096" y="2011680"/>
            <a:ext cx="640080" cy="640080"/>
          </a:xfrm>
          <a:prstGeom prst="rect">
            <a:avLst/>
          </a:prstGeom>
          <a:noFill/>
        </p:spPr>
        <p:txBody>
          <a:bodyPr wrap="square" lIns="0" tIns="0" rIns="0" bIns="0" anchor="ctr">
            <a:spAutoFit/>
          </a:bodyPr>
          <a:lstStyle/>
          <a:p>
            <a:pPr algn="ctr">
              <a:lnSpc>
                <a:spcPct val="115000"/>
              </a:lnSpc>
              <a:spcAft>
                <a:spcPts val="0"/>
              </a:spcAft>
            </a:pPr>
            <a:r>
              <a:rPr sz="1600" b="1">
                <a:solidFill>
                  <a:srgbClr val="FFFFFF"/>
                </a:solidFill>
                <a:latin typeface="Calibri"/>
              </a:rPr>
              <a:t>5</a:t>
            </a:r>
          </a:p>
        </p:txBody>
      </p:sp>
      <p:sp>
        <p:nvSpPr>
          <p:cNvPr id="21" name="TextBox 20"/>
          <p:cNvSpPr txBox="1"/>
          <p:nvPr/>
        </p:nvSpPr>
        <p:spPr>
          <a:xfrm>
            <a:off x="6089903" y="2788920"/>
            <a:ext cx="1426464" cy="640080"/>
          </a:xfrm>
          <a:prstGeom prst="rect">
            <a:avLst/>
          </a:prstGeom>
          <a:noFill/>
        </p:spPr>
        <p:txBody>
          <a:bodyPr wrap="square" lIns="0" tIns="0" rIns="0" bIns="0" anchor="t">
            <a:spAutoFit/>
          </a:bodyPr>
          <a:lstStyle/>
          <a:p>
            <a:pPr algn="ctr">
              <a:lnSpc>
                <a:spcPct val="115000"/>
              </a:lnSpc>
              <a:spcAft>
                <a:spcPts val="0"/>
              </a:spcAft>
            </a:pPr>
            <a:r>
              <a:rPr sz="1300" b="0">
                <a:solidFill>
                  <a:srgbClr val="1F2933"/>
                </a:solidFill>
                <a:latin typeface="Calibri"/>
              </a:rPr>
              <a:t>Références</a:t>
            </a:r>
          </a:p>
        </p:txBody>
      </p:sp>
      <p:sp>
        <p:nvSpPr>
          <p:cNvPr id="22" name="Oval 21"/>
          <p:cNvSpPr/>
          <p:nvPr/>
        </p:nvSpPr>
        <p:spPr>
          <a:xfrm>
            <a:off x="7932420" y="2011680"/>
            <a:ext cx="640080" cy="64008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32420" y="2011680"/>
            <a:ext cx="640080" cy="640080"/>
          </a:xfrm>
          <a:prstGeom prst="rect">
            <a:avLst/>
          </a:prstGeom>
          <a:noFill/>
        </p:spPr>
        <p:txBody>
          <a:bodyPr wrap="square" lIns="0" tIns="0" rIns="0" bIns="0" anchor="ctr">
            <a:spAutoFit/>
          </a:bodyPr>
          <a:lstStyle/>
          <a:p>
            <a:pPr algn="ctr">
              <a:lnSpc>
                <a:spcPct val="115000"/>
              </a:lnSpc>
              <a:spcAft>
                <a:spcPts val="0"/>
              </a:spcAft>
            </a:pPr>
            <a:r>
              <a:rPr sz="1600" b="1">
                <a:solidFill>
                  <a:srgbClr val="FFFFFF"/>
                </a:solidFill>
                <a:latin typeface="Calibri"/>
              </a:rPr>
              <a:t>6</a:t>
            </a:r>
          </a:p>
        </p:txBody>
      </p:sp>
      <p:sp>
        <p:nvSpPr>
          <p:cNvPr id="24" name="TextBox 23"/>
          <p:cNvSpPr txBox="1"/>
          <p:nvPr/>
        </p:nvSpPr>
        <p:spPr>
          <a:xfrm>
            <a:off x="7539228" y="2788920"/>
            <a:ext cx="1426464" cy="640080"/>
          </a:xfrm>
          <a:prstGeom prst="rect">
            <a:avLst/>
          </a:prstGeom>
          <a:noFill/>
        </p:spPr>
        <p:txBody>
          <a:bodyPr wrap="square" lIns="0" tIns="0" rIns="0" bIns="0" anchor="t">
            <a:spAutoFit/>
          </a:bodyPr>
          <a:lstStyle/>
          <a:p>
            <a:pPr algn="ctr">
              <a:lnSpc>
                <a:spcPct val="115000"/>
              </a:lnSpc>
              <a:spcAft>
                <a:spcPts val="0"/>
              </a:spcAft>
            </a:pPr>
            <a:r>
              <a:rPr sz="1300" b="1">
                <a:solidFill>
                  <a:srgbClr val="EB6834"/>
                </a:solidFill>
                <a:latin typeface="Calibri"/>
              </a:rPr>
              <a:t>Décision RH</a:t>
            </a:r>
          </a:p>
        </p:txBody>
      </p:sp>
      <p:sp>
        <p:nvSpPr>
          <p:cNvPr id="25" name="Oval 24"/>
          <p:cNvSpPr/>
          <p:nvPr/>
        </p:nvSpPr>
        <p:spPr>
          <a:xfrm>
            <a:off x="9381744" y="2011680"/>
            <a:ext cx="640080" cy="64008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381744" y="2011680"/>
            <a:ext cx="640080" cy="640080"/>
          </a:xfrm>
          <a:prstGeom prst="rect">
            <a:avLst/>
          </a:prstGeom>
          <a:noFill/>
        </p:spPr>
        <p:txBody>
          <a:bodyPr wrap="square" lIns="0" tIns="0" rIns="0" bIns="0" anchor="ctr">
            <a:spAutoFit/>
          </a:bodyPr>
          <a:lstStyle/>
          <a:p>
            <a:pPr algn="ctr">
              <a:lnSpc>
                <a:spcPct val="115000"/>
              </a:lnSpc>
              <a:spcAft>
                <a:spcPts val="0"/>
              </a:spcAft>
            </a:pPr>
            <a:r>
              <a:rPr sz="1600" b="1">
                <a:solidFill>
                  <a:srgbClr val="FFFFFF"/>
                </a:solidFill>
                <a:latin typeface="Calibri"/>
              </a:rPr>
              <a:t>7</a:t>
            </a:r>
          </a:p>
        </p:txBody>
      </p:sp>
      <p:sp>
        <p:nvSpPr>
          <p:cNvPr id="27" name="TextBox 26"/>
          <p:cNvSpPr txBox="1"/>
          <p:nvPr/>
        </p:nvSpPr>
        <p:spPr>
          <a:xfrm>
            <a:off x="8988552" y="2788920"/>
            <a:ext cx="1426464" cy="640080"/>
          </a:xfrm>
          <a:prstGeom prst="rect">
            <a:avLst/>
          </a:prstGeom>
          <a:noFill/>
        </p:spPr>
        <p:txBody>
          <a:bodyPr wrap="square" lIns="0" tIns="0" rIns="0" bIns="0" anchor="t">
            <a:spAutoFit/>
          </a:bodyPr>
          <a:lstStyle/>
          <a:p>
            <a:pPr algn="ctr">
              <a:lnSpc>
                <a:spcPct val="115000"/>
              </a:lnSpc>
              <a:spcAft>
                <a:spcPts val="0"/>
              </a:spcAft>
            </a:pPr>
            <a:r>
              <a:rPr sz="1300" b="0">
                <a:solidFill>
                  <a:srgbClr val="1F2933"/>
                </a:solidFill>
                <a:latin typeface="Calibri"/>
              </a:rPr>
              <a:t>Offre et contrat</a:t>
            </a:r>
          </a:p>
        </p:txBody>
      </p:sp>
      <p:sp>
        <p:nvSpPr>
          <p:cNvPr id="28" name="Oval 27"/>
          <p:cNvSpPr/>
          <p:nvPr/>
        </p:nvSpPr>
        <p:spPr>
          <a:xfrm>
            <a:off x="10831067" y="2011680"/>
            <a:ext cx="640080" cy="64008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831067" y="2011680"/>
            <a:ext cx="640080" cy="640080"/>
          </a:xfrm>
          <a:prstGeom prst="rect">
            <a:avLst/>
          </a:prstGeom>
          <a:noFill/>
        </p:spPr>
        <p:txBody>
          <a:bodyPr wrap="square" lIns="0" tIns="0" rIns="0" bIns="0" anchor="ctr">
            <a:spAutoFit/>
          </a:bodyPr>
          <a:lstStyle/>
          <a:p>
            <a:pPr algn="ctr">
              <a:lnSpc>
                <a:spcPct val="115000"/>
              </a:lnSpc>
              <a:spcAft>
                <a:spcPts val="0"/>
              </a:spcAft>
            </a:pPr>
            <a:r>
              <a:rPr sz="1600" b="1">
                <a:solidFill>
                  <a:srgbClr val="FFFFFF"/>
                </a:solidFill>
                <a:latin typeface="Calibri"/>
              </a:rPr>
              <a:t>8</a:t>
            </a:r>
          </a:p>
        </p:txBody>
      </p:sp>
      <p:sp>
        <p:nvSpPr>
          <p:cNvPr id="30" name="TextBox 29"/>
          <p:cNvSpPr txBox="1"/>
          <p:nvPr/>
        </p:nvSpPr>
        <p:spPr>
          <a:xfrm>
            <a:off x="10437876" y="2788920"/>
            <a:ext cx="1426464" cy="640080"/>
          </a:xfrm>
          <a:prstGeom prst="rect">
            <a:avLst/>
          </a:prstGeom>
          <a:noFill/>
        </p:spPr>
        <p:txBody>
          <a:bodyPr wrap="square" lIns="0" tIns="0" rIns="0" bIns="0" anchor="t">
            <a:spAutoFit/>
          </a:bodyPr>
          <a:lstStyle/>
          <a:p>
            <a:pPr algn="ctr">
              <a:lnSpc>
                <a:spcPct val="115000"/>
              </a:lnSpc>
              <a:spcAft>
                <a:spcPts val="0"/>
              </a:spcAft>
            </a:pPr>
            <a:r>
              <a:rPr sz="1300" b="0">
                <a:solidFill>
                  <a:srgbClr val="1F2933"/>
                </a:solidFill>
                <a:latin typeface="Calibri"/>
              </a:rPr>
              <a:t>Intégration</a:t>
            </a:r>
          </a:p>
        </p:txBody>
      </p:sp>
      <p:sp>
        <p:nvSpPr>
          <p:cNvPr id="31" name="Rounded Rectangle 30"/>
          <p:cNvSpPr/>
          <p:nvPr/>
        </p:nvSpPr>
        <p:spPr>
          <a:xfrm>
            <a:off x="548640" y="3794760"/>
            <a:ext cx="2103120" cy="192024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7240" y="3931920"/>
            <a:ext cx="1737360" cy="868680"/>
          </a:xfrm>
          <a:prstGeom prst="rect">
            <a:avLst/>
          </a:prstGeom>
          <a:noFill/>
        </p:spPr>
        <p:txBody>
          <a:bodyPr wrap="square" lIns="0" tIns="0" rIns="0" bIns="0" anchor="t">
            <a:spAutoFit/>
          </a:bodyPr>
          <a:lstStyle/>
          <a:p>
            <a:pPr algn="l">
              <a:lnSpc>
                <a:spcPct val="115000"/>
              </a:lnSpc>
              <a:spcAft>
                <a:spcPts val="0"/>
              </a:spcAft>
            </a:pPr>
            <a:r>
              <a:rPr sz="4000" b="1">
                <a:solidFill>
                  <a:srgbClr val="EB6834"/>
                </a:solidFill>
                <a:latin typeface="Calibri"/>
              </a:rPr>
              <a:t>3</a:t>
            </a:r>
          </a:p>
        </p:txBody>
      </p:sp>
      <p:sp>
        <p:nvSpPr>
          <p:cNvPr id="33" name="TextBox 32"/>
          <p:cNvSpPr txBox="1"/>
          <p:nvPr/>
        </p:nvSpPr>
        <p:spPr>
          <a:xfrm>
            <a:off x="777240" y="4846320"/>
            <a:ext cx="1737360" cy="731520"/>
          </a:xfrm>
          <a:prstGeom prst="rect">
            <a:avLst/>
          </a:prstGeom>
          <a:noFill/>
        </p:spPr>
        <p:txBody>
          <a:bodyPr wrap="square" lIns="0" tIns="0" rIns="0" bIns="0" anchor="t">
            <a:spAutoFit/>
          </a:bodyPr>
          <a:lstStyle/>
          <a:p>
            <a:pPr algn="l">
              <a:lnSpc>
                <a:spcPct val="115000"/>
              </a:lnSpc>
              <a:spcAft>
                <a:spcPts val="0"/>
              </a:spcAft>
            </a:pPr>
            <a:r>
              <a:rPr sz="1400" b="0">
                <a:solidFill>
                  <a:srgbClr val="1F2933"/>
                </a:solidFill>
                <a:latin typeface="Calibri"/>
              </a:rPr>
              <a:t>dossiers en cours</a:t>
            </a:r>
          </a:p>
        </p:txBody>
      </p:sp>
      <p:sp>
        <p:nvSpPr>
          <p:cNvPr id="34" name="Rounded Rectangle 33"/>
          <p:cNvSpPr/>
          <p:nvPr/>
        </p:nvSpPr>
        <p:spPr>
          <a:xfrm>
            <a:off x="2880360" y="3794760"/>
            <a:ext cx="2103120" cy="192024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108960" y="3931920"/>
            <a:ext cx="1737360" cy="868680"/>
          </a:xfrm>
          <a:prstGeom prst="rect">
            <a:avLst/>
          </a:prstGeom>
          <a:noFill/>
        </p:spPr>
        <p:txBody>
          <a:bodyPr wrap="square" lIns="0" tIns="0" rIns="0" bIns="0" anchor="t">
            <a:spAutoFit/>
          </a:bodyPr>
          <a:lstStyle/>
          <a:p>
            <a:pPr algn="l">
              <a:lnSpc>
                <a:spcPct val="115000"/>
              </a:lnSpc>
              <a:spcAft>
                <a:spcPts val="0"/>
              </a:spcAft>
            </a:pPr>
            <a:r>
              <a:rPr sz="4000" b="1">
                <a:solidFill>
                  <a:srgbClr val="EB6834"/>
                </a:solidFill>
                <a:latin typeface="Calibri"/>
              </a:rPr>
              <a:t>1</a:t>
            </a:r>
          </a:p>
        </p:txBody>
      </p:sp>
      <p:sp>
        <p:nvSpPr>
          <p:cNvPr id="36" name="TextBox 35"/>
          <p:cNvSpPr txBox="1"/>
          <p:nvPr/>
        </p:nvSpPr>
        <p:spPr>
          <a:xfrm>
            <a:off x="3108960" y="4846320"/>
            <a:ext cx="1737360" cy="731520"/>
          </a:xfrm>
          <a:prstGeom prst="rect">
            <a:avLst/>
          </a:prstGeom>
          <a:noFill/>
        </p:spPr>
        <p:txBody>
          <a:bodyPr wrap="square" lIns="0" tIns="0" rIns="0" bIns="0" anchor="t">
            <a:spAutoFit/>
          </a:bodyPr>
          <a:lstStyle/>
          <a:p>
            <a:pPr algn="l">
              <a:lnSpc>
                <a:spcPct val="115000"/>
              </a:lnSpc>
              <a:spcAft>
                <a:spcPts val="0"/>
              </a:spcAft>
            </a:pPr>
            <a:r>
              <a:rPr sz="1400" b="0">
                <a:solidFill>
                  <a:srgbClr val="1F2933"/>
                </a:solidFill>
                <a:latin typeface="Calibri"/>
              </a:rPr>
              <a:t>poste pourvu</a:t>
            </a:r>
          </a:p>
        </p:txBody>
      </p:sp>
      <p:sp>
        <p:nvSpPr>
          <p:cNvPr id="37" name="Rounded Rectangle 36"/>
          <p:cNvSpPr/>
          <p:nvPr/>
        </p:nvSpPr>
        <p:spPr>
          <a:xfrm>
            <a:off x="5212079" y="3794760"/>
            <a:ext cx="2103120" cy="192024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40679" y="3931920"/>
            <a:ext cx="1737360" cy="868680"/>
          </a:xfrm>
          <a:prstGeom prst="rect">
            <a:avLst/>
          </a:prstGeom>
          <a:noFill/>
        </p:spPr>
        <p:txBody>
          <a:bodyPr wrap="square" lIns="0" tIns="0" rIns="0" bIns="0" anchor="t">
            <a:spAutoFit/>
          </a:bodyPr>
          <a:lstStyle/>
          <a:p>
            <a:pPr algn="l">
              <a:lnSpc>
                <a:spcPct val="115000"/>
              </a:lnSpc>
              <a:spcAft>
                <a:spcPts val="0"/>
              </a:spcAft>
            </a:pPr>
            <a:r>
              <a:rPr sz="4000" b="1">
                <a:solidFill>
                  <a:srgbClr val="EB6834"/>
                </a:solidFill>
                <a:latin typeface="Calibri"/>
              </a:rPr>
              <a:t>38 j</a:t>
            </a:r>
          </a:p>
        </p:txBody>
      </p:sp>
      <p:sp>
        <p:nvSpPr>
          <p:cNvPr id="39" name="TextBox 38"/>
          <p:cNvSpPr txBox="1"/>
          <p:nvPr/>
        </p:nvSpPr>
        <p:spPr>
          <a:xfrm>
            <a:off x="5440679" y="4846320"/>
            <a:ext cx="1737360" cy="731520"/>
          </a:xfrm>
          <a:prstGeom prst="rect">
            <a:avLst/>
          </a:prstGeom>
          <a:noFill/>
        </p:spPr>
        <p:txBody>
          <a:bodyPr wrap="square" lIns="0" tIns="0" rIns="0" bIns="0" anchor="t">
            <a:spAutoFit/>
          </a:bodyPr>
          <a:lstStyle/>
          <a:p>
            <a:pPr algn="l">
              <a:lnSpc>
                <a:spcPct val="115000"/>
              </a:lnSpc>
              <a:spcAft>
                <a:spcPts val="0"/>
              </a:spcAft>
            </a:pPr>
            <a:r>
              <a:rPr sz="1400" b="0">
                <a:solidFill>
                  <a:srgbClr val="1F2933"/>
                </a:solidFill>
                <a:latin typeface="Calibri"/>
              </a:rPr>
              <a:t>délai moyen jusqu'à la décision</a:t>
            </a:r>
          </a:p>
        </p:txBody>
      </p:sp>
      <p:sp>
        <p:nvSpPr>
          <p:cNvPr id="40" name="Rounded Rectangle 39"/>
          <p:cNvSpPr/>
          <p:nvPr/>
        </p:nvSpPr>
        <p:spPr>
          <a:xfrm>
            <a:off x="7589520" y="3794760"/>
            <a:ext cx="4050791" cy="192024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909560" y="3931920"/>
            <a:ext cx="3474720" cy="1691640"/>
          </a:xfrm>
          <a:prstGeom prst="rect">
            <a:avLst/>
          </a:prstGeom>
          <a:noFill/>
        </p:spPr>
        <p:txBody>
          <a:bodyPr wrap="square" lIns="0" tIns="0" rIns="0" bIns="0" anchor="ctr">
            <a:spAutoFit/>
          </a:bodyPr>
          <a:lstStyle/>
          <a:p>
            <a:pPr marL="228600" indent="-228600" algn="l">
              <a:lnSpc>
                <a:spcPct val="115000"/>
              </a:lnSpc>
              <a:spcAft>
                <a:spcPts val="400"/>
              </a:spcAft>
              <a:buClr>
                <a:srgbClr val="EB6834"/>
              </a:buClr>
              <a:buChar char="•"/>
            </a:pPr>
            <a:r>
              <a:rPr sz="1500" b="0">
                <a:solidFill>
                  <a:srgbClr val="FFFFFF"/>
                </a:solidFill>
                <a:latin typeface="Calibri"/>
              </a:rPr>
              <a:t>Aucun score automatique</a:t>
            </a:r>
          </a:p>
          <a:p>
            <a:pPr marL="228600" indent="-228600" algn="l">
              <a:lnSpc>
                <a:spcPct val="115000"/>
              </a:lnSpc>
              <a:spcAft>
                <a:spcPts val="400"/>
              </a:spcAft>
              <a:buClr>
                <a:srgbClr val="EB6834"/>
              </a:buClr>
              <a:buChar char="•"/>
            </a:pPr>
            <a:r>
              <a:rPr sz="1500" b="0">
                <a:solidFill>
                  <a:srgbClr val="FFFFFF"/>
                </a:solidFill>
                <a:latin typeface="Calibri"/>
              </a:rPr>
              <a:t>Aucun classement des candidats</a:t>
            </a:r>
          </a:p>
          <a:p>
            <a:pPr marL="228600" indent="-228600" algn="l">
              <a:lnSpc>
                <a:spcPct val="115000"/>
              </a:lnSpc>
              <a:spcAft>
                <a:spcPts val="400"/>
              </a:spcAft>
              <a:buClr>
                <a:srgbClr val="EB6834"/>
              </a:buClr>
              <a:buChar char="•"/>
            </a:pPr>
            <a:r>
              <a:rPr sz="1500" b="0">
                <a:solidFill>
                  <a:srgbClr val="FFFFFF"/>
                </a:solidFill>
                <a:latin typeface="Calibri"/>
              </a:rPr>
              <a:t>Aucune IA de tri</a:t>
            </a:r>
          </a:p>
          <a:p>
            <a:pPr marL="228600" indent="-228600" algn="l">
              <a:lnSpc>
                <a:spcPct val="115000"/>
              </a:lnSpc>
              <a:spcAft>
                <a:spcPts val="400"/>
              </a:spcAft>
              <a:buClr>
                <a:srgbClr val="EB6834"/>
              </a:buClr>
              <a:buChar char="•"/>
            </a:pPr>
            <a:r>
              <a:rPr sz="1500" b="0">
                <a:solidFill>
                  <a:srgbClr val="FFFFFF"/>
                </a:solidFill>
                <a:latin typeface="Calibri"/>
              </a:rPr>
              <a:t>Références avec autorisation écrite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6400800"/>
            <a:ext cx="8229600" cy="274320"/>
          </a:xfrm>
          <a:prstGeom prst="rect">
            <a:avLst/>
          </a:prstGeom>
          <a:noFill/>
        </p:spPr>
        <p:txBody>
          <a:bodyPr wrap="square" lIns="0" tIns="0" rIns="0" bIns="0" anchor="t">
            <a:spAutoFit/>
          </a:bodyPr>
          <a:lstStyle/>
          <a:p>
            <a:pPr algn="l">
              <a:lnSpc>
                <a:spcPct val="115000"/>
              </a:lnSpc>
              <a:spcAft>
                <a:spcPts val="0"/>
              </a:spcAft>
            </a:pPr>
            <a:r>
              <a:rPr sz="1000" b="0">
                <a:solidFill>
                  <a:srgbClr val="5B6573"/>
                </a:solidFill>
                <a:latin typeface="Calibri"/>
              </a:rPr>
              <a:t>Données fictives · projet personnel indépendant de Nuru</a:t>
            </a:r>
          </a:p>
        </p:txBody>
      </p:sp>
      <p:sp>
        <p:nvSpPr>
          <p:cNvPr id="3" name="TextBox 2"/>
          <p:cNvSpPr txBox="1"/>
          <p:nvPr/>
        </p:nvSpPr>
        <p:spPr>
          <a:xfrm>
            <a:off x="10728655" y="6400800"/>
            <a:ext cx="914400" cy="274320"/>
          </a:xfrm>
          <a:prstGeom prst="rect">
            <a:avLst/>
          </a:prstGeom>
          <a:noFill/>
        </p:spPr>
        <p:txBody>
          <a:bodyPr wrap="square" lIns="0" tIns="0" rIns="0" bIns="0" anchor="t">
            <a:spAutoFit/>
          </a:bodyPr>
          <a:lstStyle/>
          <a:p>
            <a:pPr algn="r">
              <a:lnSpc>
                <a:spcPct val="115000"/>
              </a:lnSpc>
              <a:spcAft>
                <a:spcPts val="0"/>
              </a:spcAft>
            </a:pPr>
            <a:r>
              <a:rPr sz="1000" b="0">
                <a:solidFill>
                  <a:srgbClr val="5B6573"/>
                </a:solidFill>
                <a:latin typeface="Calibri"/>
              </a:rPr>
              <a:t>8</a:t>
            </a:r>
          </a:p>
        </p:txBody>
      </p:sp>
      <p:sp>
        <p:nvSpPr>
          <p:cNvPr id="4" name="TextBox 3"/>
          <p:cNvSpPr txBox="1"/>
          <p:nvPr/>
        </p:nvSpPr>
        <p:spPr>
          <a:xfrm>
            <a:off x="548640" y="411480"/>
            <a:ext cx="11094415" cy="685800"/>
          </a:xfrm>
          <a:prstGeom prst="rect">
            <a:avLst/>
          </a:prstGeom>
          <a:noFill/>
        </p:spPr>
        <p:txBody>
          <a:bodyPr wrap="square" lIns="0" tIns="0" rIns="0" bIns="0" anchor="ctr">
            <a:spAutoFit/>
          </a:bodyPr>
          <a:lstStyle/>
          <a:p>
            <a:pPr algn="l">
              <a:lnSpc>
                <a:spcPct val="115000"/>
              </a:lnSpc>
              <a:spcAft>
                <a:spcPts val="0"/>
              </a:spcAft>
            </a:pPr>
            <a:r>
              <a:rPr sz="3400" b="1">
                <a:solidFill>
                  <a:srgbClr val="14213D"/>
                </a:solidFill>
                <a:latin typeface="Calibri"/>
              </a:rPr>
              <a:t>Tableau de bord RH : piloter en un coup d'œil</a:t>
            </a:r>
          </a:p>
        </p:txBody>
      </p:sp>
      <p:sp>
        <p:nvSpPr>
          <p:cNvPr id="5" name="TextBox 4"/>
          <p:cNvSpPr txBox="1"/>
          <p:nvPr/>
        </p:nvSpPr>
        <p:spPr>
          <a:xfrm>
            <a:off x="548640" y="1097280"/>
            <a:ext cx="11094415" cy="411480"/>
          </a:xfrm>
          <a:prstGeom prst="rect">
            <a:avLst/>
          </a:prstGeom>
          <a:noFill/>
        </p:spPr>
        <p:txBody>
          <a:bodyPr wrap="square" lIns="0" tIns="0" rIns="0" bIns="0" anchor="t">
            <a:spAutoFit/>
          </a:bodyPr>
          <a:lstStyle/>
          <a:p>
            <a:pPr algn="l">
              <a:lnSpc>
                <a:spcPct val="115000"/>
              </a:lnSpc>
              <a:spcAft>
                <a:spcPts val="0"/>
              </a:spcAft>
            </a:pPr>
            <a:r>
              <a:rPr sz="1600" b="0">
                <a:solidFill>
                  <a:srgbClr val="5B6573"/>
                </a:solidFill>
                <a:latin typeface="Calibri"/>
              </a:rPr>
              <a:t>Indicateurs, graphiques, insights et actions à effectuer</a:t>
            </a:r>
          </a:p>
        </p:txBody>
      </p:sp>
      <p:pic>
        <p:nvPicPr>
          <p:cNvPr id="6" name="Picture 5" descr="tableau_de_bord_bureau.png"/>
          <p:cNvPicPr>
            <a:picLocks noChangeAspect="1"/>
          </p:cNvPicPr>
          <p:nvPr/>
        </p:nvPicPr>
        <p:blipFill>
          <a:blip r:embed="rId3"/>
          <a:srcRect b="33120"/>
          <a:stretch>
            <a:fillRect/>
          </a:stretch>
        </p:blipFill>
        <p:spPr>
          <a:xfrm>
            <a:off x="548640" y="1783080"/>
            <a:ext cx="6949440" cy="4253097"/>
          </a:xfrm>
          <a:prstGeom prst="rect">
            <a:avLst/>
          </a:prstGeom>
          <a:ln w="12700">
            <a:solidFill>
              <a:srgbClr val="D9DEE6"/>
            </a:solidFill>
          </a:ln>
        </p:spPr>
      </p:pic>
      <p:pic>
        <p:nvPicPr>
          <p:cNvPr id="7" name="Picture 6" descr="tableau_de_bord_mobile.png"/>
          <p:cNvPicPr>
            <a:picLocks noChangeAspect="1"/>
          </p:cNvPicPr>
          <p:nvPr/>
        </p:nvPicPr>
        <p:blipFill>
          <a:blip r:embed="rId4"/>
          <a:srcRect b="19400"/>
          <a:stretch>
            <a:fillRect/>
          </a:stretch>
        </p:blipFill>
        <p:spPr>
          <a:xfrm>
            <a:off x="7818120" y="1783080"/>
            <a:ext cx="1828800" cy="4251960"/>
          </a:xfrm>
          <a:prstGeom prst="rect">
            <a:avLst/>
          </a:prstGeom>
          <a:ln w="12700">
            <a:solidFill>
              <a:srgbClr val="D9DEE6"/>
            </a:solidFill>
          </a:ln>
        </p:spPr>
      </p:pic>
      <p:sp>
        <p:nvSpPr>
          <p:cNvPr id="8" name="TextBox 7"/>
          <p:cNvSpPr txBox="1"/>
          <p:nvPr/>
        </p:nvSpPr>
        <p:spPr>
          <a:xfrm>
            <a:off x="9921240" y="1783080"/>
            <a:ext cx="1737360" cy="4251960"/>
          </a:xfrm>
          <a:prstGeom prst="rect">
            <a:avLst/>
          </a:prstGeom>
          <a:noFill/>
        </p:spPr>
        <p:txBody>
          <a:bodyPr wrap="square" lIns="0" tIns="0" rIns="0" bIns="0" anchor="ctr">
            <a:spAutoFit/>
          </a:bodyPr>
          <a:lstStyle/>
          <a:p>
            <a:pPr marL="228600" indent="-228600" algn="l">
              <a:lnSpc>
                <a:spcPct val="115000"/>
              </a:lnSpc>
              <a:spcAft>
                <a:spcPts val="1400"/>
              </a:spcAft>
              <a:buClr>
                <a:srgbClr val="EB6834"/>
              </a:buClr>
              <a:buChar char="•"/>
            </a:pPr>
            <a:r>
              <a:rPr sz="1500" b="0">
                <a:solidFill>
                  <a:srgbClr val="1F2933"/>
                </a:solidFill>
                <a:latin typeface="Calibri"/>
              </a:rPr>
              <a:t>Calculé depuis les données</a:t>
            </a:r>
          </a:p>
          <a:p>
            <a:pPr marL="228600" indent="-228600" algn="l">
              <a:lnSpc>
                <a:spcPct val="115000"/>
              </a:lnSpc>
              <a:spcAft>
                <a:spcPts val="1400"/>
              </a:spcAft>
              <a:buClr>
                <a:srgbClr val="EB6834"/>
              </a:buClr>
              <a:buChar char="•"/>
            </a:pPr>
            <a:r>
              <a:rPr sz="1500" b="0">
                <a:solidFill>
                  <a:srgbClr val="1F2933"/>
                </a:solidFill>
                <a:latin typeface="Calibri"/>
              </a:rPr>
              <a:t>Adapté au téléphone</a:t>
            </a:r>
          </a:p>
          <a:p>
            <a:pPr marL="228600" indent="-228600" algn="l">
              <a:lnSpc>
                <a:spcPct val="115000"/>
              </a:lnSpc>
              <a:spcAft>
                <a:spcPts val="1400"/>
              </a:spcAft>
              <a:buClr>
                <a:srgbClr val="EB6834"/>
              </a:buClr>
              <a:buChar char="•"/>
            </a:pPr>
            <a:r>
              <a:rPr sz="1500" b="0">
                <a:solidFill>
                  <a:srgbClr val="1F2933"/>
                </a:solidFill>
                <a:latin typeface="Calibri"/>
              </a:rPr>
              <a:t>Export CSV pour Excel</a:t>
            </a:r>
          </a:p>
          <a:p>
            <a:pPr marL="228600" indent="-228600" algn="l">
              <a:lnSpc>
                <a:spcPct val="115000"/>
              </a:lnSpc>
              <a:spcAft>
                <a:spcPts val="1400"/>
              </a:spcAft>
              <a:buClr>
                <a:srgbClr val="EB6834"/>
              </a:buClr>
              <a:buChar char="•"/>
            </a:pPr>
            <a:r>
              <a:rPr sz="1500" b="0">
                <a:solidFill>
                  <a:srgbClr val="1F2933"/>
                </a:solidFill>
                <a:latin typeface="Calibri"/>
              </a:rPr>
              <a:t>Actions triées par urgence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6400800"/>
            <a:ext cx="8229600" cy="274320"/>
          </a:xfrm>
          <a:prstGeom prst="rect">
            <a:avLst/>
          </a:prstGeom>
          <a:noFill/>
        </p:spPr>
        <p:txBody>
          <a:bodyPr wrap="square" lIns="0" tIns="0" rIns="0" bIns="0" anchor="t">
            <a:spAutoFit/>
          </a:bodyPr>
          <a:lstStyle/>
          <a:p>
            <a:pPr algn="l">
              <a:lnSpc>
                <a:spcPct val="115000"/>
              </a:lnSpc>
              <a:spcAft>
                <a:spcPts val="0"/>
              </a:spcAft>
            </a:pPr>
            <a:r>
              <a:rPr sz="1000" b="0">
                <a:solidFill>
                  <a:srgbClr val="5B6573"/>
                </a:solidFill>
                <a:latin typeface="Calibri"/>
              </a:rPr>
              <a:t>Données fictives · projet personnel indépendant de Nuru</a:t>
            </a:r>
          </a:p>
        </p:txBody>
      </p:sp>
      <p:sp>
        <p:nvSpPr>
          <p:cNvPr id="3" name="TextBox 2"/>
          <p:cNvSpPr txBox="1"/>
          <p:nvPr/>
        </p:nvSpPr>
        <p:spPr>
          <a:xfrm>
            <a:off x="10728655" y="6400800"/>
            <a:ext cx="914400" cy="274320"/>
          </a:xfrm>
          <a:prstGeom prst="rect">
            <a:avLst/>
          </a:prstGeom>
          <a:noFill/>
        </p:spPr>
        <p:txBody>
          <a:bodyPr wrap="square" lIns="0" tIns="0" rIns="0" bIns="0" anchor="t">
            <a:spAutoFit/>
          </a:bodyPr>
          <a:lstStyle/>
          <a:p>
            <a:pPr algn="r">
              <a:lnSpc>
                <a:spcPct val="115000"/>
              </a:lnSpc>
              <a:spcAft>
                <a:spcPts val="0"/>
              </a:spcAft>
            </a:pPr>
            <a:r>
              <a:rPr sz="1000" b="0">
                <a:solidFill>
                  <a:srgbClr val="5B6573"/>
                </a:solidFill>
                <a:latin typeface="Calibri"/>
              </a:rPr>
              <a:t>9</a:t>
            </a:r>
          </a:p>
        </p:txBody>
      </p:sp>
      <p:sp>
        <p:nvSpPr>
          <p:cNvPr id="4" name="TextBox 3"/>
          <p:cNvSpPr txBox="1"/>
          <p:nvPr/>
        </p:nvSpPr>
        <p:spPr>
          <a:xfrm>
            <a:off x="548640" y="411480"/>
            <a:ext cx="11094415" cy="685800"/>
          </a:xfrm>
          <a:prstGeom prst="rect">
            <a:avLst/>
          </a:prstGeom>
          <a:noFill/>
        </p:spPr>
        <p:txBody>
          <a:bodyPr wrap="square" lIns="0" tIns="0" rIns="0" bIns="0" anchor="ctr">
            <a:spAutoFit/>
          </a:bodyPr>
          <a:lstStyle/>
          <a:p>
            <a:pPr algn="l">
              <a:lnSpc>
                <a:spcPct val="115000"/>
              </a:lnSpc>
              <a:spcAft>
                <a:spcPts val="0"/>
              </a:spcAft>
            </a:pPr>
            <a:r>
              <a:rPr sz="3400" b="1">
                <a:solidFill>
                  <a:srgbClr val="14213D"/>
                </a:solidFill>
                <a:latin typeface="Calibri"/>
              </a:rPr>
              <a:t>Effectifs au 31 octobre 2026</a:t>
            </a:r>
          </a:p>
        </p:txBody>
      </p:sp>
      <p:sp>
        <p:nvSpPr>
          <p:cNvPr id="5" name="TextBox 4"/>
          <p:cNvSpPr txBox="1"/>
          <p:nvPr/>
        </p:nvSpPr>
        <p:spPr>
          <a:xfrm>
            <a:off x="548640" y="1097280"/>
            <a:ext cx="11094415" cy="411480"/>
          </a:xfrm>
          <a:prstGeom prst="rect">
            <a:avLst/>
          </a:prstGeom>
          <a:noFill/>
        </p:spPr>
        <p:txBody>
          <a:bodyPr wrap="square" lIns="0" tIns="0" rIns="0" bIns="0" anchor="t">
            <a:spAutoFit/>
          </a:bodyPr>
          <a:lstStyle/>
          <a:p>
            <a:pPr algn="l">
              <a:lnSpc>
                <a:spcPct val="115000"/>
              </a:lnSpc>
              <a:spcAft>
                <a:spcPts val="0"/>
              </a:spcAft>
            </a:pPr>
            <a:r>
              <a:rPr sz="1600" b="0">
                <a:solidFill>
                  <a:srgbClr val="5B6573"/>
                </a:solidFill>
                <a:latin typeface="Calibri"/>
              </a:rPr>
              <a:t>Répartition par département et type de contrat</a:t>
            </a:r>
          </a:p>
        </p:txBody>
      </p:sp>
      <p:graphicFrame>
        <p:nvGraphicFramePr>
          <p:cNvPr id="6" name="Chart 5"/>
          <p:cNvGraphicFramePr>
            <a:graphicFrameLocks noGrp="1"/>
          </p:cNvGraphicFramePr>
          <p:nvPr/>
        </p:nvGraphicFramePr>
        <p:xfrm>
          <a:off x="548640" y="1737360"/>
          <a:ext cx="694944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p:cNvSpPr/>
          <p:nvPr/>
        </p:nvSpPr>
        <p:spPr>
          <a:xfrm>
            <a:off x="7863840" y="1737360"/>
            <a:ext cx="3776472" cy="438912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83879" y="1965960"/>
            <a:ext cx="3200400" cy="457200"/>
          </a:xfrm>
          <a:prstGeom prst="rect">
            <a:avLst/>
          </a:prstGeom>
          <a:noFill/>
        </p:spPr>
        <p:txBody>
          <a:bodyPr wrap="square" lIns="0" tIns="0" rIns="0" bIns="0" anchor="t">
            <a:spAutoFit/>
          </a:bodyPr>
          <a:lstStyle/>
          <a:p>
            <a:pPr algn="l">
              <a:lnSpc>
                <a:spcPct val="115000"/>
              </a:lnSpc>
              <a:spcAft>
                <a:spcPts val="0"/>
              </a:spcAft>
            </a:pPr>
            <a:r>
              <a:rPr sz="2000" b="1">
                <a:solidFill>
                  <a:srgbClr val="14213D"/>
                </a:solidFill>
                <a:latin typeface="Calibri"/>
              </a:rPr>
              <a:t>À retenir</a:t>
            </a:r>
          </a:p>
        </p:txBody>
      </p:sp>
      <p:sp>
        <p:nvSpPr>
          <p:cNvPr id="9" name="TextBox 8"/>
          <p:cNvSpPr txBox="1"/>
          <p:nvPr/>
        </p:nvSpPr>
        <p:spPr>
          <a:xfrm>
            <a:off x="8183879" y="2514600"/>
            <a:ext cx="3200400" cy="914400"/>
          </a:xfrm>
          <a:prstGeom prst="rect">
            <a:avLst/>
          </a:prstGeom>
          <a:noFill/>
        </p:spPr>
        <p:txBody>
          <a:bodyPr wrap="square" lIns="0" tIns="0" rIns="0" bIns="0" anchor="t">
            <a:spAutoFit/>
          </a:bodyPr>
          <a:lstStyle/>
          <a:p>
            <a:pPr algn="l">
              <a:lnSpc>
                <a:spcPct val="115000"/>
              </a:lnSpc>
              <a:spcAft>
                <a:spcPts val="0"/>
              </a:spcAft>
            </a:pPr>
            <a:r>
              <a:rPr sz="4400" b="1">
                <a:solidFill>
                  <a:srgbClr val="EB6834"/>
                </a:solidFill>
                <a:latin typeface="Calibri"/>
              </a:rPr>
              <a:t>26 %</a:t>
            </a:r>
          </a:p>
        </p:txBody>
      </p:sp>
      <p:sp>
        <p:nvSpPr>
          <p:cNvPr id="10" name="TextBox 9"/>
          <p:cNvSpPr txBox="1"/>
          <p:nvPr/>
        </p:nvSpPr>
        <p:spPr>
          <a:xfrm>
            <a:off x="8183879" y="3429000"/>
            <a:ext cx="3200400" cy="457200"/>
          </a:xfrm>
          <a:prstGeom prst="rect">
            <a:avLst/>
          </a:prstGeom>
          <a:noFill/>
        </p:spPr>
        <p:txBody>
          <a:bodyPr wrap="square" lIns="0" tIns="0" rIns="0" bIns="0" anchor="t">
            <a:spAutoFit/>
          </a:bodyPr>
          <a:lstStyle/>
          <a:p>
            <a:pPr algn="l">
              <a:lnSpc>
                <a:spcPct val="115000"/>
              </a:lnSpc>
              <a:spcAft>
                <a:spcPts val="0"/>
              </a:spcAft>
            </a:pPr>
            <a:r>
              <a:rPr sz="1500" b="0">
                <a:solidFill>
                  <a:srgbClr val="1F2933"/>
                </a:solidFill>
                <a:latin typeface="Calibri"/>
              </a:rPr>
              <a:t>de l'effectif en CDD</a:t>
            </a:r>
          </a:p>
        </p:txBody>
      </p:sp>
      <p:sp>
        <p:nvSpPr>
          <p:cNvPr id="11" name="TextBox 10"/>
          <p:cNvSpPr txBox="1"/>
          <p:nvPr/>
        </p:nvSpPr>
        <p:spPr>
          <a:xfrm>
            <a:off x="8183879" y="4023360"/>
            <a:ext cx="3200400" cy="1920240"/>
          </a:xfrm>
          <a:prstGeom prst="rect">
            <a:avLst/>
          </a:prstGeom>
          <a:noFill/>
        </p:spPr>
        <p:txBody>
          <a:bodyPr wrap="square" lIns="0" tIns="0" rIns="0" bIns="0" anchor="t">
            <a:spAutoFit/>
          </a:bodyPr>
          <a:lstStyle/>
          <a:p>
            <a:pPr algn="l">
              <a:lnSpc>
                <a:spcPct val="115000"/>
              </a:lnSpc>
              <a:spcAft>
                <a:spcPts val="0"/>
              </a:spcAft>
            </a:pPr>
            <a:r>
              <a:rPr sz="1400" b="0">
                <a:solidFill>
                  <a:srgbClr val="1F2933"/>
                </a:solidFill>
                <a:latin typeface="Calibri"/>
              </a:rPr>
              <a:t>Commercial et service client : 2 CDD sur 5 personnes (40 %), contre 26 % pour l'ensemble de l'effectif.</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6400800"/>
            <a:ext cx="8229600" cy="274320"/>
          </a:xfrm>
          <a:prstGeom prst="rect">
            <a:avLst/>
          </a:prstGeom>
          <a:noFill/>
        </p:spPr>
        <p:txBody>
          <a:bodyPr wrap="square" lIns="0" tIns="0" rIns="0" bIns="0" anchor="t">
            <a:spAutoFit/>
          </a:bodyPr>
          <a:lstStyle/>
          <a:p>
            <a:pPr algn="l">
              <a:lnSpc>
                <a:spcPct val="115000"/>
              </a:lnSpc>
              <a:spcAft>
                <a:spcPts val="0"/>
              </a:spcAft>
            </a:pPr>
            <a:r>
              <a:rPr sz="1000" b="0">
                <a:solidFill>
                  <a:srgbClr val="5B6573"/>
                </a:solidFill>
                <a:latin typeface="Calibri"/>
              </a:rPr>
              <a:t>Données fictives · projet personnel indépendant de Nuru</a:t>
            </a:r>
          </a:p>
        </p:txBody>
      </p:sp>
      <p:sp>
        <p:nvSpPr>
          <p:cNvPr id="3" name="TextBox 2"/>
          <p:cNvSpPr txBox="1"/>
          <p:nvPr/>
        </p:nvSpPr>
        <p:spPr>
          <a:xfrm>
            <a:off x="10728655" y="6400800"/>
            <a:ext cx="914400" cy="274320"/>
          </a:xfrm>
          <a:prstGeom prst="rect">
            <a:avLst/>
          </a:prstGeom>
          <a:noFill/>
        </p:spPr>
        <p:txBody>
          <a:bodyPr wrap="square" lIns="0" tIns="0" rIns="0" bIns="0" anchor="t">
            <a:spAutoFit/>
          </a:bodyPr>
          <a:lstStyle/>
          <a:p>
            <a:pPr algn="r">
              <a:lnSpc>
                <a:spcPct val="115000"/>
              </a:lnSpc>
              <a:spcAft>
                <a:spcPts val="0"/>
              </a:spcAft>
            </a:pPr>
            <a:r>
              <a:rPr sz="1000" b="0">
                <a:solidFill>
                  <a:srgbClr val="5B6573"/>
                </a:solidFill>
                <a:latin typeface="Calibri"/>
              </a:rPr>
              <a:t>10</a:t>
            </a:r>
          </a:p>
        </p:txBody>
      </p:sp>
      <p:sp>
        <p:nvSpPr>
          <p:cNvPr id="4" name="TextBox 3"/>
          <p:cNvSpPr txBox="1"/>
          <p:nvPr/>
        </p:nvSpPr>
        <p:spPr>
          <a:xfrm>
            <a:off x="548640" y="411480"/>
            <a:ext cx="11094415" cy="685800"/>
          </a:xfrm>
          <a:prstGeom prst="rect">
            <a:avLst/>
          </a:prstGeom>
          <a:noFill/>
        </p:spPr>
        <p:txBody>
          <a:bodyPr wrap="square" lIns="0" tIns="0" rIns="0" bIns="0" anchor="ctr">
            <a:spAutoFit/>
          </a:bodyPr>
          <a:lstStyle/>
          <a:p>
            <a:pPr algn="l">
              <a:lnSpc>
                <a:spcPct val="115000"/>
              </a:lnSpc>
              <a:spcAft>
                <a:spcPts val="0"/>
              </a:spcAft>
            </a:pPr>
            <a:r>
              <a:rPr sz="3400" b="1">
                <a:solidFill>
                  <a:srgbClr val="14213D"/>
                </a:solidFill>
                <a:latin typeface="Calibri"/>
              </a:rPr>
              <a:t>Ce que disent les données</a:t>
            </a:r>
          </a:p>
        </p:txBody>
      </p:sp>
      <p:sp>
        <p:nvSpPr>
          <p:cNvPr id="5" name="TextBox 4"/>
          <p:cNvSpPr txBox="1"/>
          <p:nvPr/>
        </p:nvSpPr>
        <p:spPr>
          <a:xfrm>
            <a:off x="548640" y="1097280"/>
            <a:ext cx="11094415" cy="411480"/>
          </a:xfrm>
          <a:prstGeom prst="rect">
            <a:avLst/>
          </a:prstGeom>
          <a:noFill/>
        </p:spPr>
        <p:txBody>
          <a:bodyPr wrap="square" lIns="0" tIns="0" rIns="0" bIns="0" anchor="t">
            <a:spAutoFit/>
          </a:bodyPr>
          <a:lstStyle/>
          <a:p>
            <a:pPr algn="l">
              <a:lnSpc>
                <a:spcPct val="115000"/>
              </a:lnSpc>
              <a:spcAft>
                <a:spcPts val="0"/>
              </a:spcAft>
            </a:pPr>
            <a:r>
              <a:rPr sz="1600" b="0">
                <a:solidFill>
                  <a:srgbClr val="5B6573"/>
                </a:solidFill>
                <a:latin typeface="Calibri"/>
              </a:rPr>
              <a:t>Constats agrégés, calculés automatiquement ; la décision reste humaine</a:t>
            </a:r>
          </a:p>
        </p:txBody>
      </p:sp>
      <p:sp>
        <p:nvSpPr>
          <p:cNvPr id="6" name="Rounded Rectangle 5"/>
          <p:cNvSpPr/>
          <p:nvPr/>
        </p:nvSpPr>
        <p:spPr>
          <a:xfrm>
            <a:off x="548640" y="1783080"/>
            <a:ext cx="5449824" cy="192024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22959" y="2057400"/>
            <a:ext cx="1325880" cy="36576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2057400"/>
            <a:ext cx="1325880" cy="365760"/>
          </a:xfrm>
          <a:prstGeom prst="rect">
            <a:avLst/>
          </a:prstGeom>
          <a:noFill/>
        </p:spPr>
        <p:txBody>
          <a:bodyPr wrap="square" lIns="0" tIns="0" rIns="0" bIns="0" anchor="ctr">
            <a:spAutoFit/>
          </a:bodyPr>
          <a:lstStyle/>
          <a:p>
            <a:pPr algn="ctr">
              <a:lnSpc>
                <a:spcPct val="115000"/>
              </a:lnSpc>
              <a:spcAft>
                <a:spcPts val="0"/>
              </a:spcAft>
            </a:pPr>
            <a:r>
              <a:rPr sz="1300" b="1">
                <a:solidFill>
                  <a:srgbClr val="FFFFFF"/>
                </a:solidFill>
                <a:latin typeface="Calibri"/>
              </a:rPr>
              <a:t>Attention</a:t>
            </a:r>
          </a:p>
        </p:txBody>
      </p:sp>
      <p:sp>
        <p:nvSpPr>
          <p:cNvPr id="9" name="TextBox 8"/>
          <p:cNvSpPr txBox="1"/>
          <p:nvPr/>
        </p:nvSpPr>
        <p:spPr>
          <a:xfrm>
            <a:off x="822959" y="2560320"/>
            <a:ext cx="1737360" cy="822960"/>
          </a:xfrm>
          <a:prstGeom prst="rect">
            <a:avLst/>
          </a:prstGeom>
          <a:noFill/>
        </p:spPr>
        <p:txBody>
          <a:bodyPr wrap="square" lIns="0" tIns="0" rIns="0" bIns="0" anchor="ctr">
            <a:spAutoFit/>
          </a:bodyPr>
          <a:lstStyle/>
          <a:p>
            <a:pPr algn="l">
              <a:lnSpc>
                <a:spcPct val="115000"/>
              </a:lnSpc>
              <a:spcAft>
                <a:spcPts val="0"/>
              </a:spcAft>
            </a:pPr>
            <a:r>
              <a:rPr sz="3000" b="1">
                <a:solidFill>
                  <a:srgbClr val="14213D"/>
                </a:solidFill>
                <a:latin typeface="Calibri"/>
              </a:rPr>
              <a:t>3 / 7</a:t>
            </a:r>
          </a:p>
        </p:txBody>
      </p:sp>
      <p:sp>
        <p:nvSpPr>
          <p:cNvPr id="10" name="TextBox 9"/>
          <p:cNvSpPr txBox="1"/>
          <p:nvPr/>
        </p:nvSpPr>
        <p:spPr>
          <a:xfrm>
            <a:off x="2651760" y="2011680"/>
            <a:ext cx="3108960" cy="1463040"/>
          </a:xfrm>
          <a:prstGeom prst="rect">
            <a:avLst/>
          </a:prstGeom>
          <a:noFill/>
        </p:spPr>
        <p:txBody>
          <a:bodyPr wrap="square" lIns="0" tIns="0" rIns="0" bIns="0" anchor="ctr">
            <a:spAutoFit/>
          </a:bodyPr>
          <a:lstStyle/>
          <a:p>
            <a:pPr algn="l">
              <a:lnSpc>
                <a:spcPct val="115000"/>
              </a:lnSpc>
              <a:spcAft>
                <a:spcPts val="0"/>
              </a:spcAft>
            </a:pPr>
            <a:r>
              <a:rPr sz="1600" b="1">
                <a:solidFill>
                  <a:srgbClr val="1F2933"/>
                </a:solidFill>
                <a:latin typeface="Calibri"/>
              </a:rPr>
              <a:t>Échéances de CDD concentrées sur les prochaines semaines</a:t>
            </a:r>
          </a:p>
        </p:txBody>
      </p:sp>
      <p:sp>
        <p:nvSpPr>
          <p:cNvPr id="11" name="Rounded Rectangle 10"/>
          <p:cNvSpPr/>
          <p:nvPr/>
        </p:nvSpPr>
        <p:spPr>
          <a:xfrm>
            <a:off x="6190488" y="1783080"/>
            <a:ext cx="5449824" cy="192024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464807" y="2057400"/>
            <a:ext cx="1325880" cy="36576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64807" y="2057400"/>
            <a:ext cx="1325880" cy="365760"/>
          </a:xfrm>
          <a:prstGeom prst="rect">
            <a:avLst/>
          </a:prstGeom>
          <a:noFill/>
        </p:spPr>
        <p:txBody>
          <a:bodyPr wrap="square" lIns="0" tIns="0" rIns="0" bIns="0" anchor="ctr">
            <a:spAutoFit/>
          </a:bodyPr>
          <a:lstStyle/>
          <a:p>
            <a:pPr algn="ctr">
              <a:lnSpc>
                <a:spcPct val="115000"/>
              </a:lnSpc>
              <a:spcAft>
                <a:spcPts val="0"/>
              </a:spcAft>
            </a:pPr>
            <a:r>
              <a:rPr sz="1300" b="1">
                <a:solidFill>
                  <a:srgbClr val="FFFFFF"/>
                </a:solidFill>
                <a:latin typeface="Calibri"/>
              </a:rPr>
              <a:t>Attention</a:t>
            </a:r>
          </a:p>
        </p:txBody>
      </p:sp>
      <p:sp>
        <p:nvSpPr>
          <p:cNvPr id="14" name="TextBox 13"/>
          <p:cNvSpPr txBox="1"/>
          <p:nvPr/>
        </p:nvSpPr>
        <p:spPr>
          <a:xfrm>
            <a:off x="6464807" y="2560320"/>
            <a:ext cx="1737360" cy="822960"/>
          </a:xfrm>
          <a:prstGeom prst="rect">
            <a:avLst/>
          </a:prstGeom>
          <a:noFill/>
        </p:spPr>
        <p:txBody>
          <a:bodyPr wrap="square" lIns="0" tIns="0" rIns="0" bIns="0" anchor="ctr">
            <a:spAutoFit/>
          </a:bodyPr>
          <a:lstStyle/>
          <a:p>
            <a:pPr algn="l">
              <a:lnSpc>
                <a:spcPct val="115000"/>
              </a:lnSpc>
              <a:spcAft>
                <a:spcPts val="0"/>
              </a:spcAft>
            </a:pPr>
            <a:r>
              <a:rPr sz="3000" b="1">
                <a:solidFill>
                  <a:srgbClr val="14213D"/>
                </a:solidFill>
                <a:latin typeface="Calibri"/>
              </a:rPr>
              <a:t>1</a:t>
            </a:r>
          </a:p>
        </p:txBody>
      </p:sp>
      <p:sp>
        <p:nvSpPr>
          <p:cNvPr id="15" name="TextBox 14"/>
          <p:cNvSpPr txBox="1"/>
          <p:nvPr/>
        </p:nvSpPr>
        <p:spPr>
          <a:xfrm>
            <a:off x="8293608" y="2011680"/>
            <a:ext cx="3108960" cy="1463040"/>
          </a:xfrm>
          <a:prstGeom prst="rect">
            <a:avLst/>
          </a:prstGeom>
          <a:noFill/>
        </p:spPr>
        <p:txBody>
          <a:bodyPr wrap="square" lIns="0" tIns="0" rIns="0" bIns="0" anchor="ctr">
            <a:spAutoFit/>
          </a:bodyPr>
          <a:lstStyle/>
          <a:p>
            <a:pPr algn="l">
              <a:lnSpc>
                <a:spcPct val="115000"/>
              </a:lnSpc>
              <a:spcAft>
                <a:spcPts val="0"/>
              </a:spcAft>
            </a:pPr>
            <a:r>
              <a:rPr sz="1600" b="1">
                <a:solidFill>
                  <a:srgbClr val="1F2933"/>
                </a:solidFill>
                <a:latin typeface="Calibri"/>
              </a:rPr>
              <a:t>Actions administratives en retard</a:t>
            </a:r>
          </a:p>
        </p:txBody>
      </p:sp>
      <p:sp>
        <p:nvSpPr>
          <p:cNvPr id="16" name="Rounded Rectangle 15"/>
          <p:cNvSpPr/>
          <p:nvPr/>
        </p:nvSpPr>
        <p:spPr>
          <a:xfrm>
            <a:off x="548640" y="3931920"/>
            <a:ext cx="5449824" cy="192024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22959" y="4206240"/>
            <a:ext cx="1325880" cy="36576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59" y="4206240"/>
            <a:ext cx="1325880" cy="365760"/>
          </a:xfrm>
          <a:prstGeom prst="rect">
            <a:avLst/>
          </a:prstGeom>
          <a:noFill/>
        </p:spPr>
        <p:txBody>
          <a:bodyPr wrap="square" lIns="0" tIns="0" rIns="0" bIns="0" anchor="ctr">
            <a:spAutoFit/>
          </a:bodyPr>
          <a:lstStyle/>
          <a:p>
            <a:pPr algn="ctr">
              <a:lnSpc>
                <a:spcPct val="115000"/>
              </a:lnSpc>
              <a:spcAft>
                <a:spcPts val="0"/>
              </a:spcAft>
            </a:pPr>
            <a:r>
              <a:rPr sz="1300" b="1">
                <a:solidFill>
                  <a:srgbClr val="FFFFFF"/>
                </a:solidFill>
                <a:latin typeface="Calibri"/>
              </a:rPr>
              <a:t>À suivre</a:t>
            </a:r>
          </a:p>
        </p:txBody>
      </p:sp>
      <p:sp>
        <p:nvSpPr>
          <p:cNvPr id="19" name="TextBox 18"/>
          <p:cNvSpPr txBox="1"/>
          <p:nvPr/>
        </p:nvSpPr>
        <p:spPr>
          <a:xfrm>
            <a:off x="822959" y="4709159"/>
            <a:ext cx="1737360" cy="822960"/>
          </a:xfrm>
          <a:prstGeom prst="rect">
            <a:avLst/>
          </a:prstGeom>
          <a:noFill/>
        </p:spPr>
        <p:txBody>
          <a:bodyPr wrap="square" lIns="0" tIns="0" rIns="0" bIns="0" anchor="ctr">
            <a:spAutoFit/>
          </a:bodyPr>
          <a:lstStyle/>
          <a:p>
            <a:pPr algn="l">
              <a:lnSpc>
                <a:spcPct val="115000"/>
              </a:lnSpc>
              <a:spcAft>
                <a:spcPts val="0"/>
              </a:spcAft>
            </a:pPr>
            <a:r>
              <a:rPr sz="3000" b="1">
                <a:solidFill>
                  <a:srgbClr val="14213D"/>
                </a:solidFill>
                <a:latin typeface="Calibri"/>
              </a:rPr>
              <a:t>40 %</a:t>
            </a:r>
          </a:p>
        </p:txBody>
      </p:sp>
      <p:sp>
        <p:nvSpPr>
          <p:cNvPr id="20" name="TextBox 19"/>
          <p:cNvSpPr txBox="1"/>
          <p:nvPr/>
        </p:nvSpPr>
        <p:spPr>
          <a:xfrm>
            <a:off x="2651760" y="4160520"/>
            <a:ext cx="3108960" cy="1463040"/>
          </a:xfrm>
          <a:prstGeom prst="rect">
            <a:avLst/>
          </a:prstGeom>
          <a:noFill/>
        </p:spPr>
        <p:txBody>
          <a:bodyPr wrap="square" lIns="0" tIns="0" rIns="0" bIns="0" anchor="ctr">
            <a:spAutoFit/>
          </a:bodyPr>
          <a:lstStyle/>
          <a:p>
            <a:pPr algn="l">
              <a:lnSpc>
                <a:spcPct val="115000"/>
              </a:lnSpc>
              <a:spcAft>
                <a:spcPts val="0"/>
              </a:spcAft>
            </a:pPr>
            <a:r>
              <a:rPr sz="1600" b="1">
                <a:solidFill>
                  <a:srgbClr val="1F2933"/>
                </a:solidFill>
                <a:latin typeface="Calibri"/>
              </a:rPr>
              <a:t>Département le plus dépendant des CDD</a:t>
            </a:r>
          </a:p>
        </p:txBody>
      </p:sp>
      <p:sp>
        <p:nvSpPr>
          <p:cNvPr id="21" name="Rounded Rectangle 20"/>
          <p:cNvSpPr/>
          <p:nvPr/>
        </p:nvSpPr>
        <p:spPr>
          <a:xfrm>
            <a:off x="6190488" y="3931920"/>
            <a:ext cx="5449824" cy="192024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464807" y="4206240"/>
            <a:ext cx="1325880" cy="36576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64807" y="4206240"/>
            <a:ext cx="1325880" cy="365760"/>
          </a:xfrm>
          <a:prstGeom prst="rect">
            <a:avLst/>
          </a:prstGeom>
          <a:noFill/>
        </p:spPr>
        <p:txBody>
          <a:bodyPr wrap="square" lIns="0" tIns="0" rIns="0" bIns="0" anchor="ctr">
            <a:spAutoFit/>
          </a:bodyPr>
          <a:lstStyle/>
          <a:p>
            <a:pPr algn="ctr">
              <a:lnSpc>
                <a:spcPct val="115000"/>
              </a:lnSpc>
              <a:spcAft>
                <a:spcPts val="0"/>
              </a:spcAft>
            </a:pPr>
            <a:r>
              <a:rPr sz="1300" b="1">
                <a:solidFill>
                  <a:srgbClr val="FFFFFF"/>
                </a:solidFill>
                <a:latin typeface="Calibri"/>
              </a:rPr>
              <a:t>À suivre</a:t>
            </a:r>
          </a:p>
        </p:txBody>
      </p:sp>
      <p:sp>
        <p:nvSpPr>
          <p:cNvPr id="24" name="TextBox 23"/>
          <p:cNvSpPr txBox="1"/>
          <p:nvPr/>
        </p:nvSpPr>
        <p:spPr>
          <a:xfrm>
            <a:off x="6464807" y="4709159"/>
            <a:ext cx="1737360" cy="822960"/>
          </a:xfrm>
          <a:prstGeom prst="rect">
            <a:avLst/>
          </a:prstGeom>
          <a:noFill/>
        </p:spPr>
        <p:txBody>
          <a:bodyPr wrap="square" lIns="0" tIns="0" rIns="0" bIns="0" anchor="ctr">
            <a:spAutoFit/>
          </a:bodyPr>
          <a:lstStyle/>
          <a:p>
            <a:pPr algn="l">
              <a:lnSpc>
                <a:spcPct val="115000"/>
              </a:lnSpc>
              <a:spcAft>
                <a:spcPts val="0"/>
              </a:spcAft>
            </a:pPr>
            <a:r>
              <a:rPr sz="3000" b="1">
                <a:solidFill>
                  <a:srgbClr val="14213D"/>
                </a:solidFill>
                <a:latin typeface="Calibri"/>
              </a:rPr>
              <a:t>10,8 %</a:t>
            </a:r>
          </a:p>
        </p:txBody>
      </p:sp>
      <p:sp>
        <p:nvSpPr>
          <p:cNvPr id="25" name="TextBox 24"/>
          <p:cNvSpPr txBox="1"/>
          <p:nvPr/>
        </p:nvSpPr>
        <p:spPr>
          <a:xfrm>
            <a:off x="8293608" y="4160520"/>
            <a:ext cx="3108960" cy="1463040"/>
          </a:xfrm>
          <a:prstGeom prst="rect">
            <a:avLst/>
          </a:prstGeom>
          <a:noFill/>
        </p:spPr>
        <p:txBody>
          <a:bodyPr wrap="square" lIns="0" tIns="0" rIns="0" bIns="0" anchor="ctr">
            <a:spAutoFit/>
          </a:bodyPr>
          <a:lstStyle/>
          <a:p>
            <a:pPr algn="l">
              <a:lnSpc>
                <a:spcPct val="115000"/>
              </a:lnSpc>
              <a:spcAft>
                <a:spcPts val="0"/>
              </a:spcAft>
            </a:pPr>
            <a:r>
              <a:rPr sz="1600" b="1">
                <a:solidFill>
                  <a:srgbClr val="1F2933"/>
                </a:solidFill>
                <a:latin typeface="Calibri"/>
              </a:rPr>
              <a:t>Rotation du personnel depuis janvier</a:t>
            </a:r>
          </a:p>
        </p:txBody>
      </p:sp>
      <p:sp>
        <p:nvSpPr>
          <p:cNvPr id="26" name="TextBox 25"/>
          <p:cNvSpPr txBox="1"/>
          <p:nvPr/>
        </p:nvSpPr>
        <p:spPr>
          <a:xfrm>
            <a:off x="548640" y="5989320"/>
            <a:ext cx="11064240" cy="320040"/>
          </a:xfrm>
          <a:prstGeom prst="rect">
            <a:avLst/>
          </a:prstGeom>
          <a:noFill/>
        </p:spPr>
        <p:txBody>
          <a:bodyPr wrap="square" lIns="0" tIns="0" rIns="0" bIns="0" anchor="t">
            <a:spAutoFit/>
          </a:bodyPr>
          <a:lstStyle/>
          <a:p>
            <a:pPr algn="l">
              <a:lnSpc>
                <a:spcPct val="115000"/>
              </a:lnSpc>
              <a:spcAft>
                <a:spcPts val="0"/>
              </a:spcAft>
            </a:pPr>
            <a:r>
              <a:rPr sz="1300" b="0">
                <a:solidFill>
                  <a:srgbClr val="5B6573"/>
                </a:solidFill>
                <a:latin typeface="Calibri"/>
              </a:rPr>
              <a:t>Pistes proposées (exemples) : préparer les dossiers de fin de CDD, traiter les actions en retard, comprendre les causes des départs.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6400800"/>
            <a:ext cx="8229600" cy="274320"/>
          </a:xfrm>
          <a:prstGeom prst="rect">
            <a:avLst/>
          </a:prstGeom>
          <a:noFill/>
        </p:spPr>
        <p:txBody>
          <a:bodyPr wrap="square" lIns="0" tIns="0" rIns="0" bIns="0" anchor="t">
            <a:spAutoFit/>
          </a:bodyPr>
          <a:lstStyle/>
          <a:p>
            <a:pPr algn="l">
              <a:lnSpc>
                <a:spcPct val="115000"/>
              </a:lnSpc>
              <a:spcAft>
                <a:spcPts val="0"/>
              </a:spcAft>
            </a:pPr>
            <a:r>
              <a:rPr sz="1000" b="0">
                <a:solidFill>
                  <a:srgbClr val="5B6573"/>
                </a:solidFill>
                <a:latin typeface="Calibri"/>
              </a:rPr>
              <a:t>Données fictives · projet personnel indépendant de Nuru</a:t>
            </a:r>
          </a:p>
        </p:txBody>
      </p:sp>
      <p:sp>
        <p:nvSpPr>
          <p:cNvPr id="3" name="TextBox 2"/>
          <p:cNvSpPr txBox="1"/>
          <p:nvPr/>
        </p:nvSpPr>
        <p:spPr>
          <a:xfrm>
            <a:off x="10728655" y="6400800"/>
            <a:ext cx="914400" cy="274320"/>
          </a:xfrm>
          <a:prstGeom prst="rect">
            <a:avLst/>
          </a:prstGeom>
          <a:noFill/>
        </p:spPr>
        <p:txBody>
          <a:bodyPr wrap="square" lIns="0" tIns="0" rIns="0" bIns="0" anchor="t">
            <a:spAutoFit/>
          </a:bodyPr>
          <a:lstStyle/>
          <a:p>
            <a:pPr algn="r">
              <a:lnSpc>
                <a:spcPct val="115000"/>
              </a:lnSpc>
              <a:spcAft>
                <a:spcPts val="0"/>
              </a:spcAft>
            </a:pPr>
            <a:r>
              <a:rPr sz="1000" b="0">
                <a:solidFill>
                  <a:srgbClr val="5B6573"/>
                </a:solidFill>
                <a:latin typeface="Calibri"/>
              </a:rPr>
              <a:t>11</a:t>
            </a:r>
          </a:p>
        </p:txBody>
      </p:sp>
      <p:sp>
        <p:nvSpPr>
          <p:cNvPr id="4" name="TextBox 3"/>
          <p:cNvSpPr txBox="1"/>
          <p:nvPr/>
        </p:nvSpPr>
        <p:spPr>
          <a:xfrm>
            <a:off x="548640" y="411480"/>
            <a:ext cx="11094415" cy="685800"/>
          </a:xfrm>
          <a:prstGeom prst="rect">
            <a:avLst/>
          </a:prstGeom>
          <a:noFill/>
        </p:spPr>
        <p:txBody>
          <a:bodyPr wrap="square" lIns="0" tIns="0" rIns="0" bIns="0" anchor="ctr">
            <a:spAutoFit/>
          </a:bodyPr>
          <a:lstStyle/>
          <a:p>
            <a:pPr algn="l">
              <a:lnSpc>
                <a:spcPct val="115000"/>
              </a:lnSpc>
              <a:spcAft>
                <a:spcPts val="0"/>
              </a:spcAft>
            </a:pPr>
            <a:r>
              <a:rPr sz="3400" b="1">
                <a:solidFill>
                  <a:srgbClr val="14213D"/>
                </a:solidFill>
                <a:latin typeface="Calibri"/>
              </a:rPr>
              <a:t>IA responsable et confidentialité</a:t>
            </a:r>
          </a:p>
        </p:txBody>
      </p:sp>
      <p:sp>
        <p:nvSpPr>
          <p:cNvPr id="5" name="TextBox 4"/>
          <p:cNvSpPr txBox="1"/>
          <p:nvPr/>
        </p:nvSpPr>
        <p:spPr>
          <a:xfrm>
            <a:off x="548640" y="1097280"/>
            <a:ext cx="11094415" cy="411480"/>
          </a:xfrm>
          <a:prstGeom prst="rect">
            <a:avLst/>
          </a:prstGeom>
          <a:noFill/>
        </p:spPr>
        <p:txBody>
          <a:bodyPr wrap="square" lIns="0" tIns="0" rIns="0" bIns="0" anchor="t">
            <a:spAutoFit/>
          </a:bodyPr>
          <a:lstStyle/>
          <a:p>
            <a:pPr algn="l">
              <a:lnSpc>
                <a:spcPct val="115000"/>
              </a:lnSpc>
              <a:spcAft>
                <a:spcPts val="0"/>
              </a:spcAft>
            </a:pPr>
            <a:r>
              <a:rPr sz="1600" b="0">
                <a:solidFill>
                  <a:srgbClr val="5B6573"/>
                </a:solidFill>
                <a:latin typeface="Calibri"/>
              </a:rPr>
              <a:t>L'IA m'a assisté(e) ; elle ne décide de rien</a:t>
            </a:r>
          </a:p>
        </p:txBody>
      </p:sp>
      <p:sp>
        <p:nvSpPr>
          <p:cNvPr id="6" name="Rounded Rectangle 5"/>
          <p:cNvSpPr/>
          <p:nvPr/>
        </p:nvSpPr>
        <p:spPr>
          <a:xfrm>
            <a:off x="548640" y="1783080"/>
            <a:ext cx="3520440" cy="411480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68680" y="2057400"/>
            <a:ext cx="777240" cy="77724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057400"/>
            <a:ext cx="777240" cy="777240"/>
          </a:xfrm>
          <a:prstGeom prst="rect">
            <a:avLst/>
          </a:prstGeom>
          <a:noFill/>
        </p:spPr>
        <p:txBody>
          <a:bodyPr wrap="square" lIns="0" tIns="0" rIns="0" bIns="0" anchor="ctr">
            <a:spAutoFit/>
          </a:bodyPr>
          <a:lstStyle/>
          <a:p>
            <a:pPr algn="ctr">
              <a:lnSpc>
                <a:spcPct val="115000"/>
              </a:lnSpc>
              <a:spcAft>
                <a:spcPts val="0"/>
              </a:spcAft>
            </a:pPr>
            <a:r>
              <a:rPr sz="2200" b="1">
                <a:solidFill>
                  <a:srgbClr val="FFFFFF"/>
                </a:solidFill>
                <a:latin typeface="Calibri"/>
              </a:rPr>
              <a:t>1</a:t>
            </a:r>
          </a:p>
        </p:txBody>
      </p:sp>
      <p:sp>
        <p:nvSpPr>
          <p:cNvPr id="9" name="TextBox 8"/>
          <p:cNvSpPr txBox="1"/>
          <p:nvPr/>
        </p:nvSpPr>
        <p:spPr>
          <a:xfrm>
            <a:off x="868680" y="3017520"/>
            <a:ext cx="2926080" cy="731520"/>
          </a:xfrm>
          <a:prstGeom prst="rect">
            <a:avLst/>
          </a:prstGeom>
          <a:noFill/>
        </p:spPr>
        <p:txBody>
          <a:bodyPr wrap="square" lIns="0" tIns="0" rIns="0" bIns="0" anchor="t">
            <a:spAutoFit/>
          </a:bodyPr>
          <a:lstStyle/>
          <a:p>
            <a:pPr algn="l">
              <a:lnSpc>
                <a:spcPct val="115000"/>
              </a:lnSpc>
              <a:spcAft>
                <a:spcPts val="0"/>
              </a:spcAft>
            </a:pPr>
            <a:r>
              <a:rPr sz="1900" b="1">
                <a:solidFill>
                  <a:srgbClr val="14213D"/>
                </a:solidFill>
                <a:latin typeface="Calibri"/>
              </a:rPr>
              <a:t>Assistance déclarée</a:t>
            </a:r>
          </a:p>
        </p:txBody>
      </p:sp>
      <p:sp>
        <p:nvSpPr>
          <p:cNvPr id="10" name="TextBox 9"/>
          <p:cNvSpPr txBox="1"/>
          <p:nvPr/>
        </p:nvSpPr>
        <p:spPr>
          <a:xfrm>
            <a:off x="868680" y="3931920"/>
            <a:ext cx="2926080" cy="1828800"/>
          </a:xfrm>
          <a:prstGeom prst="rect">
            <a:avLst/>
          </a:prstGeom>
          <a:noFill/>
        </p:spPr>
        <p:txBody>
          <a:bodyPr wrap="square" lIns="0" tIns="0" rIns="0" bIns="0" anchor="t">
            <a:spAutoFit/>
          </a:bodyPr>
          <a:lstStyle/>
          <a:p>
            <a:pPr algn="l">
              <a:lnSpc>
                <a:spcPct val="115000"/>
              </a:lnSpc>
              <a:spcAft>
                <a:spcPts val="0"/>
              </a:spcAft>
            </a:pPr>
            <a:r>
              <a:rPr sz="1400" b="0">
                <a:solidFill>
                  <a:srgbClr val="1F2933"/>
                </a:solidFill>
                <a:latin typeface="Calibri"/>
              </a:rPr>
              <a:t>Le projet a été construit avec Claude Code. Les propositions de l'IA ont été exécutées et contrôlées par des tests ; je reste responsable du contenu.</a:t>
            </a:r>
          </a:p>
        </p:txBody>
      </p:sp>
      <p:sp>
        <p:nvSpPr>
          <p:cNvPr id="11" name="Rounded Rectangle 10"/>
          <p:cNvSpPr/>
          <p:nvPr/>
        </p:nvSpPr>
        <p:spPr>
          <a:xfrm>
            <a:off x="4315968" y="1783080"/>
            <a:ext cx="3520440" cy="411480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636007" y="2057400"/>
            <a:ext cx="777240" cy="7772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7" y="2057400"/>
            <a:ext cx="777240" cy="777240"/>
          </a:xfrm>
          <a:prstGeom prst="rect">
            <a:avLst/>
          </a:prstGeom>
          <a:noFill/>
        </p:spPr>
        <p:txBody>
          <a:bodyPr wrap="square" lIns="0" tIns="0" rIns="0" bIns="0" anchor="ctr">
            <a:spAutoFit/>
          </a:bodyPr>
          <a:lstStyle/>
          <a:p>
            <a:pPr algn="ctr">
              <a:lnSpc>
                <a:spcPct val="115000"/>
              </a:lnSpc>
              <a:spcAft>
                <a:spcPts val="0"/>
              </a:spcAft>
            </a:pPr>
            <a:r>
              <a:rPr sz="2200" b="1">
                <a:solidFill>
                  <a:srgbClr val="FFFFFF"/>
                </a:solidFill>
                <a:latin typeface="Calibri"/>
              </a:rPr>
              <a:t>2</a:t>
            </a:r>
          </a:p>
        </p:txBody>
      </p:sp>
      <p:sp>
        <p:nvSpPr>
          <p:cNvPr id="14" name="TextBox 13"/>
          <p:cNvSpPr txBox="1"/>
          <p:nvPr/>
        </p:nvSpPr>
        <p:spPr>
          <a:xfrm>
            <a:off x="4636007" y="3017520"/>
            <a:ext cx="2926080" cy="731520"/>
          </a:xfrm>
          <a:prstGeom prst="rect">
            <a:avLst/>
          </a:prstGeom>
          <a:noFill/>
        </p:spPr>
        <p:txBody>
          <a:bodyPr wrap="square" lIns="0" tIns="0" rIns="0" bIns="0" anchor="t">
            <a:spAutoFit/>
          </a:bodyPr>
          <a:lstStyle/>
          <a:p>
            <a:pPr algn="l">
              <a:lnSpc>
                <a:spcPct val="115000"/>
              </a:lnSpc>
              <a:spcAft>
                <a:spcPts val="0"/>
              </a:spcAft>
            </a:pPr>
            <a:r>
              <a:rPr sz="1900" b="1">
                <a:solidFill>
                  <a:srgbClr val="14213D"/>
                </a:solidFill>
                <a:latin typeface="Calibri"/>
              </a:rPr>
              <a:t>Aucune décision automatisée</a:t>
            </a:r>
          </a:p>
        </p:txBody>
      </p:sp>
      <p:sp>
        <p:nvSpPr>
          <p:cNvPr id="15" name="TextBox 14"/>
          <p:cNvSpPr txBox="1"/>
          <p:nvPr/>
        </p:nvSpPr>
        <p:spPr>
          <a:xfrm>
            <a:off x="4636007" y="3931920"/>
            <a:ext cx="2926080" cy="1828800"/>
          </a:xfrm>
          <a:prstGeom prst="rect">
            <a:avLst/>
          </a:prstGeom>
          <a:noFill/>
        </p:spPr>
        <p:txBody>
          <a:bodyPr wrap="square" lIns="0" tIns="0" rIns="0" bIns="0" anchor="t">
            <a:spAutoFit/>
          </a:bodyPr>
          <a:lstStyle/>
          <a:p>
            <a:pPr algn="l">
              <a:lnSpc>
                <a:spcPct val="115000"/>
              </a:lnSpc>
              <a:spcAft>
                <a:spcPts val="0"/>
              </a:spcAft>
            </a:pPr>
            <a:r>
              <a:rPr sz="1400" b="0">
                <a:solidFill>
                  <a:srgbClr val="1F2933"/>
                </a:solidFill>
                <a:latin typeface="Calibri"/>
              </a:rPr>
              <a:t>Le recrutement n'est ni noté, ni classé, ni trié par l'outil. Chaque étape est enregistrée par une personne ; la décision appartient au responsable RH.</a:t>
            </a:r>
          </a:p>
        </p:txBody>
      </p:sp>
      <p:sp>
        <p:nvSpPr>
          <p:cNvPr id="16" name="Rounded Rectangle 15"/>
          <p:cNvSpPr/>
          <p:nvPr/>
        </p:nvSpPr>
        <p:spPr>
          <a:xfrm>
            <a:off x="8083296" y="1783080"/>
            <a:ext cx="3520440" cy="411480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403336" y="2057400"/>
            <a:ext cx="777240" cy="77724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03336" y="2057400"/>
            <a:ext cx="777240" cy="777240"/>
          </a:xfrm>
          <a:prstGeom prst="rect">
            <a:avLst/>
          </a:prstGeom>
          <a:noFill/>
        </p:spPr>
        <p:txBody>
          <a:bodyPr wrap="square" lIns="0" tIns="0" rIns="0" bIns="0" anchor="ctr">
            <a:spAutoFit/>
          </a:bodyPr>
          <a:lstStyle/>
          <a:p>
            <a:pPr algn="ctr">
              <a:lnSpc>
                <a:spcPct val="115000"/>
              </a:lnSpc>
              <a:spcAft>
                <a:spcPts val="0"/>
              </a:spcAft>
            </a:pPr>
            <a:r>
              <a:rPr sz="2200" b="1">
                <a:solidFill>
                  <a:srgbClr val="FFFFFF"/>
                </a:solidFill>
                <a:latin typeface="Calibri"/>
              </a:rPr>
              <a:t>3</a:t>
            </a:r>
          </a:p>
        </p:txBody>
      </p:sp>
      <p:sp>
        <p:nvSpPr>
          <p:cNvPr id="19" name="TextBox 18"/>
          <p:cNvSpPr txBox="1"/>
          <p:nvPr/>
        </p:nvSpPr>
        <p:spPr>
          <a:xfrm>
            <a:off x="8403336" y="3017520"/>
            <a:ext cx="2926080" cy="731520"/>
          </a:xfrm>
          <a:prstGeom prst="rect">
            <a:avLst/>
          </a:prstGeom>
          <a:noFill/>
        </p:spPr>
        <p:txBody>
          <a:bodyPr wrap="square" lIns="0" tIns="0" rIns="0" bIns="0" anchor="t">
            <a:spAutoFit/>
          </a:bodyPr>
          <a:lstStyle/>
          <a:p>
            <a:pPr algn="l">
              <a:lnSpc>
                <a:spcPct val="115000"/>
              </a:lnSpc>
              <a:spcAft>
                <a:spcPts val="0"/>
              </a:spcAft>
            </a:pPr>
            <a:r>
              <a:rPr sz="1900" b="1">
                <a:solidFill>
                  <a:srgbClr val="14213D"/>
                </a:solidFill>
                <a:latin typeface="Calibri"/>
              </a:rPr>
              <a:t>Données fictives et minimisation</a:t>
            </a:r>
          </a:p>
        </p:txBody>
      </p:sp>
      <p:sp>
        <p:nvSpPr>
          <p:cNvPr id="20" name="TextBox 19"/>
          <p:cNvSpPr txBox="1"/>
          <p:nvPr/>
        </p:nvSpPr>
        <p:spPr>
          <a:xfrm>
            <a:off x="8403336" y="3931920"/>
            <a:ext cx="2926080" cy="1828800"/>
          </a:xfrm>
          <a:prstGeom prst="rect">
            <a:avLst/>
          </a:prstGeom>
          <a:noFill/>
        </p:spPr>
        <p:txBody>
          <a:bodyPr wrap="square" lIns="0" tIns="0" rIns="0" bIns="0" anchor="t">
            <a:spAutoFit/>
          </a:bodyPr>
          <a:lstStyle/>
          <a:p>
            <a:pPr algn="l">
              <a:lnSpc>
                <a:spcPct val="115000"/>
              </a:lnSpc>
              <a:spcAft>
                <a:spcPts val="0"/>
              </a:spcAft>
            </a:pPr>
            <a:r>
              <a:rPr sz="1400" b="0">
                <a:solidFill>
                  <a:srgbClr val="1F2933"/>
                </a:solidFill>
                <a:latin typeface="Calibri"/>
              </a:rPr>
              <a:t>Aucune donnée réelle. Les écrans de suivi n'affichent ni date de naissance, ni salaire, ni motif de santé ; les insights sont agrégés.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6400800"/>
            <a:ext cx="8229600" cy="274320"/>
          </a:xfrm>
          <a:prstGeom prst="rect">
            <a:avLst/>
          </a:prstGeom>
          <a:noFill/>
        </p:spPr>
        <p:txBody>
          <a:bodyPr wrap="square" lIns="0" tIns="0" rIns="0" bIns="0" anchor="t">
            <a:spAutoFit/>
          </a:bodyPr>
          <a:lstStyle/>
          <a:p>
            <a:pPr algn="l">
              <a:lnSpc>
                <a:spcPct val="115000"/>
              </a:lnSpc>
              <a:spcAft>
                <a:spcPts val="0"/>
              </a:spcAft>
            </a:pPr>
            <a:r>
              <a:rPr sz="1000" b="0">
                <a:solidFill>
                  <a:srgbClr val="5B6573"/>
                </a:solidFill>
                <a:latin typeface="Calibri"/>
              </a:rPr>
              <a:t>Données fictives · projet personnel indépendant de Nuru</a:t>
            </a:r>
          </a:p>
        </p:txBody>
      </p:sp>
      <p:sp>
        <p:nvSpPr>
          <p:cNvPr id="3" name="TextBox 2"/>
          <p:cNvSpPr txBox="1"/>
          <p:nvPr/>
        </p:nvSpPr>
        <p:spPr>
          <a:xfrm>
            <a:off x="10728655" y="6400800"/>
            <a:ext cx="914400" cy="274320"/>
          </a:xfrm>
          <a:prstGeom prst="rect">
            <a:avLst/>
          </a:prstGeom>
          <a:noFill/>
        </p:spPr>
        <p:txBody>
          <a:bodyPr wrap="square" lIns="0" tIns="0" rIns="0" bIns="0" anchor="t">
            <a:spAutoFit/>
          </a:bodyPr>
          <a:lstStyle/>
          <a:p>
            <a:pPr algn="r">
              <a:lnSpc>
                <a:spcPct val="115000"/>
              </a:lnSpc>
              <a:spcAft>
                <a:spcPts val="0"/>
              </a:spcAft>
            </a:pPr>
            <a:r>
              <a:rPr sz="1000" b="0">
                <a:solidFill>
                  <a:srgbClr val="5B6573"/>
                </a:solidFill>
                <a:latin typeface="Calibri"/>
              </a:rPr>
              <a:t>12</a:t>
            </a:r>
          </a:p>
        </p:txBody>
      </p:sp>
      <p:sp>
        <p:nvSpPr>
          <p:cNvPr id="4" name="TextBox 3"/>
          <p:cNvSpPr txBox="1"/>
          <p:nvPr/>
        </p:nvSpPr>
        <p:spPr>
          <a:xfrm>
            <a:off x="548640" y="411480"/>
            <a:ext cx="11094415" cy="685800"/>
          </a:xfrm>
          <a:prstGeom prst="rect">
            <a:avLst/>
          </a:prstGeom>
          <a:noFill/>
        </p:spPr>
        <p:txBody>
          <a:bodyPr wrap="square" lIns="0" tIns="0" rIns="0" bIns="0" anchor="ctr">
            <a:spAutoFit/>
          </a:bodyPr>
          <a:lstStyle/>
          <a:p>
            <a:pPr algn="l">
              <a:lnSpc>
                <a:spcPct val="115000"/>
              </a:lnSpc>
              <a:spcAft>
                <a:spcPts val="0"/>
              </a:spcAft>
            </a:pPr>
            <a:r>
              <a:rPr sz="3400" b="1">
                <a:solidFill>
                  <a:srgbClr val="14213D"/>
                </a:solidFill>
                <a:latin typeface="Calibri"/>
              </a:rPr>
              <a:t>Qualité : ce qui a été réellement testé</a:t>
            </a:r>
          </a:p>
        </p:txBody>
      </p:sp>
      <p:sp>
        <p:nvSpPr>
          <p:cNvPr id="5" name="TextBox 4"/>
          <p:cNvSpPr txBox="1"/>
          <p:nvPr/>
        </p:nvSpPr>
        <p:spPr>
          <a:xfrm>
            <a:off x="548640" y="1097280"/>
            <a:ext cx="11094415" cy="411480"/>
          </a:xfrm>
          <a:prstGeom prst="rect">
            <a:avLst/>
          </a:prstGeom>
          <a:noFill/>
        </p:spPr>
        <p:txBody>
          <a:bodyPr wrap="square" lIns="0" tIns="0" rIns="0" bIns="0" anchor="t">
            <a:spAutoFit/>
          </a:bodyPr>
          <a:lstStyle/>
          <a:p>
            <a:pPr algn="l">
              <a:lnSpc>
                <a:spcPct val="115000"/>
              </a:lnSpc>
              <a:spcAft>
                <a:spcPts val="0"/>
              </a:spcAft>
            </a:pPr>
            <a:r>
              <a:rPr sz="1600" b="0">
                <a:solidFill>
                  <a:srgbClr val="5B6573"/>
                </a:solidFill>
                <a:latin typeface="Calibri"/>
              </a:rPr>
              <a:t>Des vérifications exécutées, pas seulement annoncées</a:t>
            </a:r>
          </a:p>
        </p:txBody>
      </p:sp>
      <p:sp>
        <p:nvSpPr>
          <p:cNvPr id="6" name="Rounded Rectangle 5"/>
          <p:cNvSpPr/>
          <p:nvPr/>
        </p:nvSpPr>
        <p:spPr>
          <a:xfrm>
            <a:off x="548640" y="1783080"/>
            <a:ext cx="5120640" cy="118872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783080"/>
            <a:ext cx="1737360" cy="1188720"/>
          </a:xfrm>
          <a:prstGeom prst="rect">
            <a:avLst/>
          </a:prstGeom>
          <a:noFill/>
        </p:spPr>
        <p:txBody>
          <a:bodyPr wrap="square" lIns="0" tIns="0" rIns="0" bIns="0" anchor="ctr">
            <a:spAutoFit/>
          </a:bodyPr>
          <a:lstStyle/>
          <a:p>
            <a:pPr algn="l">
              <a:lnSpc>
                <a:spcPct val="115000"/>
              </a:lnSpc>
              <a:spcAft>
                <a:spcPts val="0"/>
              </a:spcAft>
            </a:pPr>
            <a:r>
              <a:rPr sz="4400" b="1">
                <a:solidFill>
                  <a:srgbClr val="EB6834"/>
                </a:solidFill>
                <a:latin typeface="Calibri"/>
              </a:rPr>
              <a:t>76</a:t>
            </a:r>
          </a:p>
        </p:txBody>
      </p:sp>
      <p:sp>
        <p:nvSpPr>
          <p:cNvPr id="8" name="TextBox 7"/>
          <p:cNvSpPr txBox="1"/>
          <p:nvPr/>
        </p:nvSpPr>
        <p:spPr>
          <a:xfrm>
            <a:off x="2651760" y="1783080"/>
            <a:ext cx="2834640" cy="1188720"/>
          </a:xfrm>
          <a:prstGeom prst="rect">
            <a:avLst/>
          </a:prstGeom>
          <a:noFill/>
        </p:spPr>
        <p:txBody>
          <a:bodyPr wrap="square" lIns="0" tIns="0" rIns="0" bIns="0" anchor="ctr">
            <a:spAutoFit/>
          </a:bodyPr>
          <a:lstStyle/>
          <a:p>
            <a:pPr algn="l">
              <a:lnSpc>
                <a:spcPct val="115000"/>
              </a:lnSpc>
              <a:spcAft>
                <a:spcPts val="0"/>
              </a:spcAft>
            </a:pPr>
            <a:r>
              <a:rPr sz="1600" b="0">
                <a:solidFill>
                  <a:srgbClr val="1F2933"/>
                </a:solidFill>
                <a:latin typeface="Calibri"/>
              </a:rPr>
              <a:t>tests automatisés réussis</a:t>
            </a:r>
          </a:p>
        </p:txBody>
      </p:sp>
      <p:sp>
        <p:nvSpPr>
          <p:cNvPr id="9" name="Rounded Rectangle 8"/>
          <p:cNvSpPr/>
          <p:nvPr/>
        </p:nvSpPr>
        <p:spPr>
          <a:xfrm>
            <a:off x="548640" y="3154680"/>
            <a:ext cx="5120640" cy="118872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154680"/>
            <a:ext cx="1737360" cy="1188720"/>
          </a:xfrm>
          <a:prstGeom prst="rect">
            <a:avLst/>
          </a:prstGeom>
          <a:noFill/>
        </p:spPr>
        <p:txBody>
          <a:bodyPr wrap="square" lIns="0" tIns="0" rIns="0" bIns="0" anchor="ctr">
            <a:spAutoFit/>
          </a:bodyPr>
          <a:lstStyle/>
          <a:p>
            <a:pPr algn="l">
              <a:lnSpc>
                <a:spcPct val="115000"/>
              </a:lnSpc>
              <a:spcAft>
                <a:spcPts val="0"/>
              </a:spcAft>
            </a:pPr>
            <a:r>
              <a:rPr sz="4400" b="1">
                <a:solidFill>
                  <a:srgbClr val="EB6834"/>
                </a:solidFill>
                <a:latin typeface="Calibri"/>
              </a:rPr>
              <a:t>26</a:t>
            </a:r>
          </a:p>
        </p:txBody>
      </p:sp>
      <p:sp>
        <p:nvSpPr>
          <p:cNvPr id="11" name="TextBox 10"/>
          <p:cNvSpPr txBox="1"/>
          <p:nvPr/>
        </p:nvSpPr>
        <p:spPr>
          <a:xfrm>
            <a:off x="2651760" y="3154680"/>
            <a:ext cx="2834640" cy="1188720"/>
          </a:xfrm>
          <a:prstGeom prst="rect">
            <a:avLst/>
          </a:prstGeom>
          <a:noFill/>
        </p:spPr>
        <p:txBody>
          <a:bodyPr wrap="square" lIns="0" tIns="0" rIns="0" bIns="0" anchor="ctr">
            <a:spAutoFit/>
          </a:bodyPr>
          <a:lstStyle/>
          <a:p>
            <a:pPr algn="l">
              <a:lnSpc>
                <a:spcPct val="115000"/>
              </a:lnSpc>
              <a:spcAft>
                <a:spcPts val="0"/>
              </a:spcAft>
            </a:pPr>
            <a:r>
              <a:rPr sz="1600" b="0">
                <a:solidFill>
                  <a:srgbClr val="1F2933"/>
                </a:solidFill>
                <a:latin typeface="Calibri"/>
              </a:rPr>
              <a:t>règles de cohérence respectées</a:t>
            </a:r>
          </a:p>
        </p:txBody>
      </p:sp>
      <p:sp>
        <p:nvSpPr>
          <p:cNvPr id="12" name="Rounded Rectangle 11"/>
          <p:cNvSpPr/>
          <p:nvPr/>
        </p:nvSpPr>
        <p:spPr>
          <a:xfrm>
            <a:off x="548640" y="4526280"/>
            <a:ext cx="5120640" cy="118872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4526280"/>
            <a:ext cx="1737360" cy="1188720"/>
          </a:xfrm>
          <a:prstGeom prst="rect">
            <a:avLst/>
          </a:prstGeom>
          <a:noFill/>
        </p:spPr>
        <p:txBody>
          <a:bodyPr wrap="square" lIns="0" tIns="0" rIns="0" bIns="0" anchor="ctr">
            <a:spAutoFit/>
          </a:bodyPr>
          <a:lstStyle/>
          <a:p>
            <a:pPr algn="l">
              <a:lnSpc>
                <a:spcPct val="115000"/>
              </a:lnSpc>
              <a:spcAft>
                <a:spcPts val="0"/>
              </a:spcAft>
            </a:pPr>
            <a:r>
              <a:rPr sz="4400" b="1">
                <a:solidFill>
                  <a:srgbClr val="EB6834"/>
                </a:solidFill>
                <a:latin typeface="Calibri"/>
              </a:rPr>
              <a:t>11</a:t>
            </a:r>
          </a:p>
        </p:txBody>
      </p:sp>
      <p:sp>
        <p:nvSpPr>
          <p:cNvPr id="14" name="TextBox 13"/>
          <p:cNvSpPr txBox="1"/>
          <p:nvPr/>
        </p:nvSpPr>
        <p:spPr>
          <a:xfrm>
            <a:off x="2651760" y="4526280"/>
            <a:ext cx="2834640" cy="1188720"/>
          </a:xfrm>
          <a:prstGeom prst="rect">
            <a:avLst/>
          </a:prstGeom>
          <a:noFill/>
        </p:spPr>
        <p:txBody>
          <a:bodyPr wrap="square" lIns="0" tIns="0" rIns="0" bIns="0" anchor="ctr">
            <a:spAutoFit/>
          </a:bodyPr>
          <a:lstStyle/>
          <a:p>
            <a:pPr algn="l">
              <a:lnSpc>
                <a:spcPct val="115000"/>
              </a:lnSpc>
              <a:spcAft>
                <a:spcPts val="0"/>
              </a:spcAft>
            </a:pPr>
            <a:r>
              <a:rPr sz="1600" b="0">
                <a:solidFill>
                  <a:srgbClr val="1F2933"/>
                </a:solidFill>
                <a:latin typeface="Calibri"/>
              </a:rPr>
              <a:t>pages vérifiées : liens et téléphone</a:t>
            </a:r>
          </a:p>
        </p:txBody>
      </p:sp>
      <p:sp>
        <p:nvSpPr>
          <p:cNvPr id="15" name="Rounded Rectangle 14"/>
          <p:cNvSpPr/>
          <p:nvPr/>
        </p:nvSpPr>
        <p:spPr>
          <a:xfrm>
            <a:off x="6035040" y="1783080"/>
            <a:ext cx="5605272" cy="393192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55080" y="2011680"/>
            <a:ext cx="5029200" cy="457200"/>
          </a:xfrm>
          <a:prstGeom prst="rect">
            <a:avLst/>
          </a:prstGeom>
          <a:noFill/>
        </p:spPr>
        <p:txBody>
          <a:bodyPr wrap="square" lIns="0" tIns="0" rIns="0" bIns="0" anchor="t">
            <a:spAutoFit/>
          </a:bodyPr>
          <a:lstStyle/>
          <a:p>
            <a:pPr algn="l">
              <a:lnSpc>
                <a:spcPct val="115000"/>
              </a:lnSpc>
              <a:spcAft>
                <a:spcPts val="0"/>
              </a:spcAft>
            </a:pPr>
            <a:r>
              <a:rPr sz="2000" b="1">
                <a:solidFill>
                  <a:srgbClr val="EB6834"/>
                </a:solidFill>
                <a:latin typeface="Calibri"/>
              </a:rPr>
              <a:t>Limites assumées</a:t>
            </a:r>
          </a:p>
        </p:txBody>
      </p:sp>
      <p:sp>
        <p:nvSpPr>
          <p:cNvPr id="17" name="TextBox 16"/>
          <p:cNvSpPr txBox="1"/>
          <p:nvPr/>
        </p:nvSpPr>
        <p:spPr>
          <a:xfrm>
            <a:off x="6355080" y="2606040"/>
            <a:ext cx="4983480" cy="3017520"/>
          </a:xfrm>
          <a:prstGeom prst="rect">
            <a:avLst/>
          </a:prstGeom>
          <a:noFill/>
        </p:spPr>
        <p:txBody>
          <a:bodyPr wrap="square" lIns="0" tIns="0" rIns="0" bIns="0" anchor="t">
            <a:spAutoFit/>
          </a:bodyPr>
          <a:lstStyle/>
          <a:p>
            <a:pPr marL="228600" indent="-228600" algn="l">
              <a:lnSpc>
                <a:spcPct val="115000"/>
              </a:lnSpc>
              <a:spcAft>
                <a:spcPts val="1000"/>
              </a:spcAft>
              <a:buClr>
                <a:srgbClr val="EB6834"/>
              </a:buClr>
              <a:buChar char="•"/>
            </a:pPr>
            <a:r>
              <a:rPr sz="1600" b="0">
                <a:solidFill>
                  <a:srgbClr val="FFFFFF"/>
                </a:solidFill>
                <a:latin typeface="Calibri"/>
              </a:rPr>
              <a:t>Consultation seule, pas de saisie en ligne</a:t>
            </a:r>
          </a:p>
          <a:p>
            <a:pPr marL="228600" indent="-228600" algn="l">
              <a:lnSpc>
                <a:spcPct val="115000"/>
              </a:lnSpc>
              <a:spcAft>
                <a:spcPts val="1000"/>
              </a:spcAft>
              <a:buClr>
                <a:srgbClr val="EB6834"/>
              </a:buClr>
              <a:buChar char="•"/>
            </a:pPr>
            <a:r>
              <a:rPr sz="1600" b="0">
                <a:solidFill>
                  <a:srgbClr val="FFFFFF"/>
                </a:solidFill>
                <a:latin typeface="Calibri"/>
              </a:rPr>
              <a:t>Pas de gestion des droits d'accès</a:t>
            </a:r>
          </a:p>
          <a:p>
            <a:pPr marL="228600" indent="-228600" algn="l">
              <a:lnSpc>
                <a:spcPct val="115000"/>
              </a:lnSpc>
              <a:spcAft>
                <a:spcPts val="1000"/>
              </a:spcAft>
              <a:buClr>
                <a:srgbClr val="EB6834"/>
              </a:buClr>
              <a:buChar char="•"/>
            </a:pPr>
            <a:r>
              <a:rPr sz="1600" b="0">
                <a:solidFill>
                  <a:srgbClr val="FFFFFF"/>
                </a:solidFill>
                <a:latin typeface="Calibri"/>
              </a:rPr>
              <a:t>Soldes de congés non calculés</a:t>
            </a:r>
          </a:p>
          <a:p>
            <a:pPr marL="228600" indent="-228600" algn="l">
              <a:lnSpc>
                <a:spcPct val="115000"/>
              </a:lnSpc>
              <a:spcAft>
                <a:spcPts val="1000"/>
              </a:spcAft>
              <a:buClr>
                <a:srgbClr val="EB6834"/>
              </a:buClr>
              <a:buChar char="•"/>
            </a:pPr>
            <a:r>
              <a:rPr sz="1600" b="0">
                <a:solidFill>
                  <a:srgbClr val="FFFFFF"/>
                </a:solidFill>
                <a:latin typeface="Calibri"/>
              </a:rPr>
              <a:t>Règles juridiques à faire vérifier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6400800"/>
            <a:ext cx="8229600" cy="274320"/>
          </a:xfrm>
          <a:prstGeom prst="rect">
            <a:avLst/>
          </a:prstGeom>
          <a:noFill/>
        </p:spPr>
        <p:txBody>
          <a:bodyPr wrap="square" lIns="0" tIns="0" rIns="0" bIns="0" anchor="t">
            <a:spAutoFit/>
          </a:bodyPr>
          <a:lstStyle/>
          <a:p>
            <a:pPr algn="l">
              <a:lnSpc>
                <a:spcPct val="115000"/>
              </a:lnSpc>
              <a:spcAft>
                <a:spcPts val="0"/>
              </a:spcAft>
            </a:pPr>
            <a:r>
              <a:rPr sz="1000" b="0">
                <a:solidFill>
                  <a:srgbClr val="5B6573"/>
                </a:solidFill>
                <a:latin typeface="Calibri"/>
              </a:rPr>
              <a:t>Données fictives · projet personnel indépendant de Nuru</a:t>
            </a:r>
          </a:p>
        </p:txBody>
      </p:sp>
      <p:sp>
        <p:nvSpPr>
          <p:cNvPr id="3" name="TextBox 2"/>
          <p:cNvSpPr txBox="1"/>
          <p:nvPr/>
        </p:nvSpPr>
        <p:spPr>
          <a:xfrm>
            <a:off x="10728655" y="6400800"/>
            <a:ext cx="914400" cy="274320"/>
          </a:xfrm>
          <a:prstGeom prst="rect">
            <a:avLst/>
          </a:prstGeom>
          <a:noFill/>
        </p:spPr>
        <p:txBody>
          <a:bodyPr wrap="square" lIns="0" tIns="0" rIns="0" bIns="0" anchor="t">
            <a:spAutoFit/>
          </a:bodyPr>
          <a:lstStyle/>
          <a:p>
            <a:pPr algn="r">
              <a:lnSpc>
                <a:spcPct val="115000"/>
              </a:lnSpc>
              <a:spcAft>
                <a:spcPts val="0"/>
              </a:spcAft>
            </a:pPr>
            <a:r>
              <a:rPr sz="1000" b="0">
                <a:solidFill>
                  <a:srgbClr val="5B6573"/>
                </a:solidFill>
                <a:latin typeface="Calibri"/>
              </a:rPr>
              <a:t>13</a:t>
            </a:r>
          </a:p>
        </p:txBody>
      </p:sp>
      <p:sp>
        <p:nvSpPr>
          <p:cNvPr id="4" name="TextBox 3"/>
          <p:cNvSpPr txBox="1"/>
          <p:nvPr/>
        </p:nvSpPr>
        <p:spPr>
          <a:xfrm>
            <a:off x="548640" y="411480"/>
            <a:ext cx="11094415" cy="685800"/>
          </a:xfrm>
          <a:prstGeom prst="rect">
            <a:avLst/>
          </a:prstGeom>
          <a:noFill/>
        </p:spPr>
        <p:txBody>
          <a:bodyPr wrap="square" lIns="0" tIns="0" rIns="0" bIns="0" anchor="ctr">
            <a:spAutoFit/>
          </a:bodyPr>
          <a:lstStyle/>
          <a:p>
            <a:pPr algn="l">
              <a:lnSpc>
                <a:spcPct val="115000"/>
              </a:lnSpc>
              <a:spcAft>
                <a:spcPts val="0"/>
              </a:spcAft>
            </a:pPr>
            <a:r>
              <a:rPr sz="3400" b="1">
                <a:solidFill>
                  <a:srgbClr val="14213D"/>
                </a:solidFill>
                <a:latin typeface="Calibri"/>
              </a:rPr>
              <a:t>Et ensuite ?</a:t>
            </a:r>
          </a:p>
        </p:txBody>
      </p:sp>
      <p:sp>
        <p:nvSpPr>
          <p:cNvPr id="5" name="TextBox 4"/>
          <p:cNvSpPr txBox="1"/>
          <p:nvPr/>
        </p:nvSpPr>
        <p:spPr>
          <a:xfrm>
            <a:off x="548640" y="1097280"/>
            <a:ext cx="11094415" cy="411480"/>
          </a:xfrm>
          <a:prstGeom prst="rect">
            <a:avLst/>
          </a:prstGeom>
          <a:noFill/>
        </p:spPr>
        <p:txBody>
          <a:bodyPr wrap="square" lIns="0" tIns="0" rIns="0" bIns="0" anchor="t">
            <a:spAutoFit/>
          </a:bodyPr>
          <a:lstStyle/>
          <a:p>
            <a:pPr algn="l">
              <a:lnSpc>
                <a:spcPct val="115000"/>
              </a:lnSpc>
              <a:spcAft>
                <a:spcPts val="0"/>
              </a:spcAft>
            </a:pPr>
            <a:r>
              <a:rPr sz="1600" b="0">
                <a:solidFill>
                  <a:srgbClr val="5B6573"/>
                </a:solidFill>
                <a:latin typeface="Calibri"/>
              </a:rPr>
              <a:t>Ce que j'améliorerais, et ce que j'apporterais à l'équipe RH</a:t>
            </a:r>
          </a:p>
        </p:txBody>
      </p:sp>
      <p:sp>
        <p:nvSpPr>
          <p:cNvPr id="6" name="Rounded Rectangle 5"/>
          <p:cNvSpPr/>
          <p:nvPr/>
        </p:nvSpPr>
        <p:spPr>
          <a:xfrm>
            <a:off x="548640" y="1783080"/>
            <a:ext cx="5449824" cy="411480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011680"/>
            <a:ext cx="4846320" cy="457200"/>
          </a:xfrm>
          <a:prstGeom prst="rect">
            <a:avLst/>
          </a:prstGeom>
          <a:noFill/>
        </p:spPr>
        <p:txBody>
          <a:bodyPr wrap="square" lIns="0" tIns="0" rIns="0" bIns="0" anchor="t">
            <a:spAutoFit/>
          </a:bodyPr>
          <a:lstStyle/>
          <a:p>
            <a:pPr algn="l">
              <a:lnSpc>
                <a:spcPct val="115000"/>
              </a:lnSpc>
              <a:spcAft>
                <a:spcPts val="0"/>
              </a:spcAft>
            </a:pPr>
            <a:r>
              <a:rPr sz="2000" b="1">
                <a:solidFill>
                  <a:srgbClr val="14213D"/>
                </a:solidFill>
                <a:latin typeface="Calibri"/>
              </a:rPr>
              <a:t>Pistes d'amélioration</a:t>
            </a:r>
          </a:p>
        </p:txBody>
      </p:sp>
      <p:sp>
        <p:nvSpPr>
          <p:cNvPr id="8" name="TextBox 7"/>
          <p:cNvSpPr txBox="1"/>
          <p:nvPr/>
        </p:nvSpPr>
        <p:spPr>
          <a:xfrm>
            <a:off x="868680" y="2606040"/>
            <a:ext cx="4846320" cy="3108960"/>
          </a:xfrm>
          <a:prstGeom prst="rect">
            <a:avLst/>
          </a:prstGeom>
          <a:noFill/>
        </p:spPr>
        <p:txBody>
          <a:bodyPr wrap="square" lIns="0" tIns="0" rIns="0" bIns="0" anchor="t">
            <a:spAutoFit/>
          </a:bodyPr>
          <a:lstStyle/>
          <a:p>
            <a:pPr marL="228600" indent="-228600" algn="l">
              <a:lnSpc>
                <a:spcPct val="115000"/>
              </a:lnSpc>
              <a:spcAft>
                <a:spcPts val="1000"/>
              </a:spcAft>
              <a:buClr>
                <a:srgbClr val="EB6834"/>
              </a:buClr>
              <a:buChar char="•"/>
            </a:pPr>
            <a:r>
              <a:rPr sz="1500" b="0">
                <a:solidFill>
                  <a:srgbClr val="1F2933"/>
                </a:solidFill>
                <a:latin typeface="Calibri"/>
              </a:rPr>
              <a:t>Ajouter une saisie sécurisée (formulaire) et un historique des modifications.</a:t>
            </a:r>
          </a:p>
          <a:p>
            <a:pPr marL="228600" indent="-228600" algn="l">
              <a:lnSpc>
                <a:spcPct val="115000"/>
              </a:lnSpc>
              <a:spcAft>
                <a:spcPts val="1000"/>
              </a:spcAft>
              <a:buClr>
                <a:srgbClr val="EB6834"/>
              </a:buClr>
              <a:buChar char="•"/>
            </a:pPr>
            <a:r>
              <a:rPr sz="1500" b="0">
                <a:solidFill>
                  <a:srgbClr val="1F2933"/>
                </a:solidFill>
                <a:latin typeface="Calibri"/>
              </a:rPr>
              <a:t>Calculer les soldes de congés une fois la règle interne validée.</a:t>
            </a:r>
          </a:p>
          <a:p>
            <a:pPr marL="228600" indent="-228600" algn="l">
              <a:lnSpc>
                <a:spcPct val="115000"/>
              </a:lnSpc>
              <a:spcAft>
                <a:spcPts val="1000"/>
              </a:spcAft>
              <a:buClr>
                <a:srgbClr val="EB6834"/>
              </a:buClr>
              <a:buChar char="•"/>
            </a:pPr>
            <a:r>
              <a:rPr sz="1500" b="0">
                <a:solidFill>
                  <a:srgbClr val="1F2933"/>
                </a:solidFill>
                <a:latin typeface="Calibri"/>
              </a:rPr>
              <a:t>Construire une version Power BI à partir des tables déjà préparées.</a:t>
            </a:r>
          </a:p>
          <a:p>
            <a:pPr marL="228600" indent="-228600" algn="l">
              <a:lnSpc>
                <a:spcPct val="115000"/>
              </a:lnSpc>
              <a:spcAft>
                <a:spcPts val="1000"/>
              </a:spcAft>
              <a:buClr>
                <a:srgbClr val="EB6834"/>
              </a:buClr>
              <a:buChar char="•"/>
            </a:pPr>
            <a:r>
              <a:rPr sz="1500" b="0">
                <a:solidFill>
                  <a:srgbClr val="1F2933"/>
                </a:solidFill>
                <a:latin typeface="Calibri"/>
              </a:rPr>
              <a:t>Faire relire les procédures par un professionnel RH et les adapter au règlement intérieur.</a:t>
            </a:r>
          </a:p>
        </p:txBody>
      </p:sp>
      <p:sp>
        <p:nvSpPr>
          <p:cNvPr id="9" name="Rounded Rectangle 8"/>
          <p:cNvSpPr/>
          <p:nvPr/>
        </p:nvSpPr>
        <p:spPr>
          <a:xfrm>
            <a:off x="6190488" y="1783080"/>
            <a:ext cx="5449824" cy="411480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10528" y="2011680"/>
            <a:ext cx="4846320" cy="457200"/>
          </a:xfrm>
          <a:prstGeom prst="rect">
            <a:avLst/>
          </a:prstGeom>
          <a:noFill/>
        </p:spPr>
        <p:txBody>
          <a:bodyPr wrap="square" lIns="0" tIns="0" rIns="0" bIns="0" anchor="t">
            <a:spAutoFit/>
          </a:bodyPr>
          <a:lstStyle/>
          <a:p>
            <a:pPr algn="l">
              <a:lnSpc>
                <a:spcPct val="115000"/>
              </a:lnSpc>
              <a:spcAft>
                <a:spcPts val="0"/>
              </a:spcAft>
            </a:pPr>
            <a:r>
              <a:rPr sz="2000" b="1">
                <a:solidFill>
                  <a:srgbClr val="EB6834"/>
                </a:solidFill>
                <a:latin typeface="Calibri"/>
              </a:rPr>
              <a:t>Ce que j'apporterais au stage</a:t>
            </a:r>
          </a:p>
        </p:txBody>
      </p:sp>
      <p:sp>
        <p:nvSpPr>
          <p:cNvPr id="11" name="TextBox 10"/>
          <p:cNvSpPr txBox="1"/>
          <p:nvPr/>
        </p:nvSpPr>
        <p:spPr>
          <a:xfrm>
            <a:off x="6510528" y="2606040"/>
            <a:ext cx="4846320" cy="3200400"/>
          </a:xfrm>
          <a:prstGeom prst="rect">
            <a:avLst/>
          </a:prstGeom>
          <a:noFill/>
        </p:spPr>
        <p:txBody>
          <a:bodyPr wrap="square" lIns="0" tIns="0" rIns="0" bIns="0" anchor="t">
            <a:spAutoFit/>
          </a:bodyPr>
          <a:lstStyle/>
          <a:p>
            <a:pPr marL="228600" indent="-228600" algn="l">
              <a:lnSpc>
                <a:spcPct val="115000"/>
              </a:lnSpc>
              <a:spcAft>
                <a:spcPts val="1000"/>
              </a:spcAft>
              <a:buClr>
                <a:srgbClr val="EB6834"/>
              </a:buClr>
              <a:buChar char="•"/>
            </a:pPr>
            <a:r>
              <a:rPr sz="1500" b="0">
                <a:solidFill>
                  <a:srgbClr val="FFFFFF"/>
                </a:solidFill>
                <a:latin typeface="Calibri"/>
              </a:rPr>
              <a:t>Rigueur administrative</a:t>
            </a:r>
          </a:p>
          <a:p>
            <a:pPr marL="228600" indent="-228600" algn="l">
              <a:lnSpc>
                <a:spcPct val="115000"/>
              </a:lnSpc>
              <a:spcAft>
                <a:spcPts val="1000"/>
              </a:spcAft>
              <a:buClr>
                <a:srgbClr val="EB6834"/>
              </a:buClr>
              <a:buChar char="•"/>
            </a:pPr>
            <a:r>
              <a:rPr sz="1500" b="0">
                <a:solidFill>
                  <a:srgbClr val="FFFFFF"/>
                </a:solidFill>
                <a:latin typeface="Calibri"/>
              </a:rPr>
              <a:t>Anticipation</a:t>
            </a:r>
          </a:p>
          <a:p>
            <a:pPr marL="228600" indent="-228600" algn="l">
              <a:lnSpc>
                <a:spcPct val="115000"/>
              </a:lnSpc>
              <a:spcAft>
                <a:spcPts val="1000"/>
              </a:spcAft>
              <a:buClr>
                <a:srgbClr val="EB6834"/>
              </a:buClr>
              <a:buChar char="•"/>
            </a:pPr>
            <a:r>
              <a:rPr sz="1500" b="0">
                <a:solidFill>
                  <a:srgbClr val="FFFFFF"/>
                </a:solidFill>
                <a:latin typeface="Calibri"/>
              </a:rPr>
              <a:t>Sens du service</a:t>
            </a:r>
          </a:p>
          <a:p>
            <a:pPr marL="228600" indent="-228600" algn="l">
              <a:lnSpc>
                <a:spcPct val="115000"/>
              </a:lnSpc>
              <a:spcAft>
                <a:spcPts val="1000"/>
              </a:spcAft>
              <a:buClr>
                <a:srgbClr val="EB6834"/>
              </a:buClr>
              <a:buChar char="•"/>
            </a:pPr>
            <a:r>
              <a:rPr sz="1500" b="0">
                <a:solidFill>
                  <a:srgbClr val="FFFFFF"/>
                </a:solidFill>
                <a:latin typeface="Calibri"/>
              </a:rPr>
              <a:t>Usage responsable du numérique et de l'IA, au service de la confidentialité.</a:t>
            </a:r>
          </a:p>
          <a:p>
            <a:pPr marL="228600" indent="-228600" algn="l">
              <a:lnSpc>
                <a:spcPct val="115000"/>
              </a:lnSpc>
              <a:spcAft>
                <a:spcPts val="1000"/>
              </a:spcAft>
              <a:buClr>
                <a:srgbClr val="EB6834"/>
              </a:buClr>
              <a:buChar char="•"/>
            </a:pPr>
            <a:r>
              <a:rPr sz="1500" b="0">
                <a:solidFill>
                  <a:srgbClr val="FFFFFF"/>
                </a:solidFill>
                <a:latin typeface="Calibri"/>
              </a:rPr>
              <a:t>Envie d'apprendre les pratiques réelles de l'équipe RH et de m'y adapter.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Oval 1"/>
          <p:cNvSpPr/>
          <p:nvPr/>
        </p:nvSpPr>
        <p:spPr>
          <a:xfrm>
            <a:off x="8595360" y="914400"/>
            <a:ext cx="4206240" cy="4206240"/>
          </a:xfrm>
          <a:prstGeom prst="ellipse">
            <a:avLst/>
          </a:prstGeom>
          <a:solidFill>
            <a:srgbClr val="223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966960" y="3291840"/>
            <a:ext cx="2377440" cy="23774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052560" y="4480560"/>
            <a:ext cx="1005840" cy="10058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7680960" cy="1097280"/>
          </a:xfrm>
          <a:prstGeom prst="rect">
            <a:avLst/>
          </a:prstGeom>
          <a:noFill/>
        </p:spPr>
        <p:txBody>
          <a:bodyPr wrap="square" lIns="0" tIns="0" rIns="0" bIns="0" anchor="t">
            <a:spAutoFit/>
          </a:bodyPr>
          <a:lstStyle/>
          <a:p>
            <a:pPr algn="l">
              <a:lnSpc>
                <a:spcPct val="115000"/>
              </a:lnSpc>
              <a:spcAft>
                <a:spcPts val="0"/>
              </a:spcAft>
            </a:pPr>
            <a:r>
              <a:rPr sz="5400" b="1">
                <a:solidFill>
                  <a:srgbClr val="FFFFFF"/>
                </a:solidFill>
                <a:latin typeface="Calibri"/>
              </a:rPr>
              <a:t>Merci</a:t>
            </a:r>
          </a:p>
        </p:txBody>
      </p:sp>
      <p:sp>
        <p:nvSpPr>
          <p:cNvPr id="6" name="TextBox 5"/>
          <p:cNvSpPr txBox="1"/>
          <p:nvPr/>
        </p:nvSpPr>
        <p:spPr>
          <a:xfrm>
            <a:off x="731520" y="2286000"/>
            <a:ext cx="7680960" cy="548640"/>
          </a:xfrm>
          <a:prstGeom prst="rect">
            <a:avLst/>
          </a:prstGeom>
          <a:noFill/>
        </p:spPr>
        <p:txBody>
          <a:bodyPr wrap="square" lIns="0" tIns="0" rIns="0" bIns="0" anchor="t">
            <a:spAutoFit/>
          </a:bodyPr>
          <a:lstStyle/>
          <a:p>
            <a:pPr algn="l">
              <a:lnSpc>
                <a:spcPct val="115000"/>
              </a:lnSpc>
              <a:spcAft>
                <a:spcPts val="0"/>
              </a:spcAft>
            </a:pPr>
            <a:r>
              <a:rPr sz="2200" b="0">
                <a:solidFill>
                  <a:srgbClr val="EB6834"/>
                </a:solidFill>
                <a:latin typeface="Calibri"/>
              </a:rPr>
              <a:t>Questions et démonstration en direct</a:t>
            </a:r>
          </a:p>
        </p:txBody>
      </p:sp>
      <p:sp>
        <p:nvSpPr>
          <p:cNvPr id="7" name="TextBox 6"/>
          <p:cNvSpPr txBox="1"/>
          <p:nvPr/>
        </p:nvSpPr>
        <p:spPr>
          <a:xfrm>
            <a:off x="731520" y="3246120"/>
            <a:ext cx="7680960" cy="1054648"/>
          </a:xfrm>
          <a:prstGeom prst="rect">
            <a:avLst/>
          </a:prstGeom>
          <a:noFill/>
        </p:spPr>
        <p:txBody>
          <a:bodyPr wrap="square" lIns="0" tIns="0" rIns="0" bIns="0" anchor="t">
            <a:spAutoFit/>
          </a:bodyPr>
          <a:lstStyle/>
          <a:p>
            <a:pPr algn="l">
              <a:lnSpc>
                <a:spcPct val="115000"/>
              </a:lnSpc>
              <a:spcAft>
                <a:spcPts val="800"/>
              </a:spcAft>
            </a:pPr>
            <a:r>
              <a:rPr sz="1600" b="1" dirty="0">
                <a:solidFill>
                  <a:srgbClr val="FFFFFF"/>
                </a:solidFill>
                <a:latin typeface="Calibri"/>
              </a:rPr>
              <a:t>Nom : </a:t>
            </a:r>
            <a:r>
              <a:rPr lang="fr-FR" sz="1600" dirty="0" smtClean="0">
                <a:solidFill>
                  <a:srgbClr val="C9D3E2"/>
                </a:solidFill>
                <a:latin typeface="Calibri"/>
              </a:rPr>
              <a:t>BARAYI HERI Oscar</a:t>
            </a:r>
            <a:endParaRPr sz="1600" b="0" dirty="0">
              <a:solidFill>
                <a:srgbClr val="C9D3E2"/>
              </a:solidFill>
              <a:latin typeface="Calibri"/>
            </a:endParaRPr>
          </a:p>
          <a:p>
            <a:pPr algn="l">
              <a:lnSpc>
                <a:spcPct val="115000"/>
              </a:lnSpc>
              <a:spcAft>
                <a:spcPts val="800"/>
              </a:spcAft>
            </a:pPr>
            <a:r>
              <a:rPr sz="1600" b="1" dirty="0">
                <a:solidFill>
                  <a:srgbClr val="FFFFFF"/>
                </a:solidFill>
                <a:latin typeface="Calibri"/>
              </a:rPr>
              <a:t>E-mail : </a:t>
            </a:r>
            <a:r>
              <a:rPr lang="fr-FR" sz="1600" dirty="0" smtClean="0">
                <a:solidFill>
                  <a:srgbClr val="C9D3E2"/>
                </a:solidFill>
                <a:latin typeface="Calibri"/>
                <a:hlinkClick r:id="rId3"/>
              </a:rPr>
              <a:t>barayiheri@gmail.com</a:t>
            </a:r>
            <a:r>
              <a:rPr lang="fr-FR" sz="1600" dirty="0" smtClean="0">
                <a:solidFill>
                  <a:srgbClr val="C9D3E2"/>
                </a:solidFill>
                <a:latin typeface="Calibri"/>
              </a:rPr>
              <a:t> </a:t>
            </a:r>
            <a:endParaRPr sz="1600" b="0" dirty="0">
              <a:solidFill>
                <a:srgbClr val="C9D3E2"/>
              </a:solidFill>
              <a:latin typeface="Calibri"/>
            </a:endParaRPr>
          </a:p>
          <a:p>
            <a:pPr algn="l">
              <a:lnSpc>
                <a:spcPct val="115000"/>
              </a:lnSpc>
              <a:spcAft>
                <a:spcPts val="800"/>
              </a:spcAft>
            </a:pPr>
            <a:endParaRPr sz="1600" b="0" dirty="0">
              <a:solidFill>
                <a:srgbClr val="C9D3E2"/>
              </a:solidFill>
              <a:latin typeface="Calibri"/>
            </a:endParaRPr>
          </a:p>
        </p:txBody>
      </p:sp>
      <p:sp>
        <p:nvSpPr>
          <p:cNvPr id="8" name="TextBox 7"/>
          <p:cNvSpPr txBox="1"/>
          <p:nvPr/>
        </p:nvSpPr>
        <p:spPr>
          <a:xfrm>
            <a:off x="731520" y="6080760"/>
            <a:ext cx="10789920" cy="365760"/>
          </a:xfrm>
          <a:prstGeom prst="rect">
            <a:avLst/>
          </a:prstGeom>
          <a:noFill/>
        </p:spPr>
        <p:txBody>
          <a:bodyPr wrap="square" lIns="0" tIns="0" rIns="0" bIns="0" anchor="t">
            <a:spAutoFit/>
          </a:bodyPr>
          <a:lstStyle/>
          <a:p>
            <a:pPr algn="l">
              <a:lnSpc>
                <a:spcPct val="115000"/>
              </a:lnSpc>
              <a:spcAft>
                <a:spcPts val="0"/>
              </a:spcAft>
            </a:pPr>
            <a:r>
              <a:rPr sz="1200" b="0">
                <a:solidFill>
                  <a:srgbClr val="AEB9CC"/>
                </a:solidFill>
                <a:latin typeface="Calibri"/>
              </a:rPr>
              <a:t>Données entièrement fictives · projet personnel indépendant de Nuru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1902</Words>
  <Application>Microsoft Office PowerPoint</Application>
  <PresentationFormat>Grand écran</PresentationFormat>
  <Paragraphs>218</Paragraphs>
  <Slides>14</Slides>
  <Notes>14</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14</vt:i4>
      </vt:variant>
    </vt:vector>
  </HeadingPairs>
  <TitlesOfParts>
    <vt:vector size="17"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NURU HR DIGITAL PORTFOLIO - Présentation</dc:title>
  <dc:subject>Projet personnel de démonstration RH (données fictives, indépendant de Nuru)</dc:subject>
  <dc:creator>Candidat(e) au stage RH</dc:creator>
  <cp:keywords/>
  <dc:description>generated using python-pptx</dc:description>
  <cp:lastModifiedBy>o</cp:lastModifiedBy>
  <cp:revision>3</cp:revision>
  <dcterms:created xsi:type="dcterms:W3CDTF">2013-01-27T09:14:16Z</dcterms:created>
  <dcterms:modified xsi:type="dcterms:W3CDTF">2026-10-14T17:21:36Z</dcterms:modified>
  <cp:category/>
</cp:coreProperties>
</file>